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051560"/>
            <a:ext cx="10789920" cy="502920"/>
          </a:xfrm>
          <a:prstGeom prst="rect">
            <a:avLst/>
          </a:prstGeom>
          <a:noFill/>
        </p:spPr>
        <p:txBody>
          <a:bodyPr wrap="none" lIns="45720" rIns="45720" anchor="t">
            <a:spAutoFit/>
          </a:bodyPr>
          <a:lstStyle/>
          <a:p>
            <a:pPr algn="l"/>
            <a:r>
              <a:rPr sz="3100" b="1">
                <a:solidFill>
                  <a:srgbClr val="FFFFFF"/>
                </a:solidFill>
                <a:latin typeface="Aptos"/>
              </a:rPr>
              <a:t>Stage 3 Material Optimization</a:t>
            </a:r>
          </a:p>
        </p:txBody>
      </p:sp>
      <p:sp>
        <p:nvSpPr>
          <p:cNvPr id="4" name="TextBox 3"/>
          <p:cNvSpPr txBox="1"/>
          <p:nvPr/>
        </p:nvSpPr>
        <p:spPr>
          <a:xfrm>
            <a:off x="685800" y="1755648"/>
            <a:ext cx="10789920" cy="502920"/>
          </a:xfrm>
          <a:prstGeom prst="rect">
            <a:avLst/>
          </a:prstGeom>
          <a:noFill/>
        </p:spPr>
        <p:txBody>
          <a:bodyPr wrap="none" lIns="45720" rIns="45720" anchor="t">
            <a:spAutoFit/>
          </a:bodyPr>
          <a:lstStyle/>
          <a:p>
            <a:pPr algn="l"/>
            <a:r>
              <a:rPr sz="2000" b="0">
                <a:solidFill>
                  <a:srgbClr val="4CC9D8"/>
                </a:solidFill>
                <a:latin typeface="Aptos"/>
              </a:rPr>
              <a:t>Factorial-v1 results, physics interpretation, and readiness audit</a:t>
            </a:r>
          </a:p>
        </p:txBody>
      </p:sp>
      <p:sp>
        <p:nvSpPr>
          <p:cNvPr id="5" name="TextBox 4"/>
          <p:cNvSpPr txBox="1"/>
          <p:nvPr/>
        </p:nvSpPr>
        <p:spPr>
          <a:xfrm>
            <a:off x="685800" y="2743200"/>
            <a:ext cx="3749039" cy="1051560"/>
          </a:xfrm>
          <a:prstGeom prst="rect">
            <a:avLst/>
          </a:prstGeom>
          <a:noFill/>
        </p:spPr>
        <p:txBody>
          <a:bodyPr wrap="none" lIns="45720" rIns="45720" anchor="t">
            <a:spAutoFit/>
          </a:bodyPr>
          <a:lstStyle/>
          <a:p>
            <a:pPr algn="l"/>
            <a:r>
              <a:rPr sz="2200" b="1">
                <a:solidFill>
                  <a:srgbClr val="FFFFFF"/>
                </a:solidFill>
                <a:latin typeface="Aptos"/>
              </a:rPr>
              <a:t>18 material triplets
72 million primary events</a:t>
            </a:r>
          </a:p>
        </p:txBody>
      </p:sp>
      <p:sp>
        <p:nvSpPr>
          <p:cNvPr id="6" name="TextBox 5"/>
          <p:cNvSpPr txBox="1"/>
          <p:nvPr/>
        </p:nvSpPr>
        <p:spPr>
          <a:xfrm>
            <a:off x="4434840" y="2743200"/>
            <a:ext cx="3474720" cy="1051560"/>
          </a:xfrm>
          <a:prstGeom prst="rect">
            <a:avLst/>
          </a:prstGeom>
          <a:noFill/>
        </p:spPr>
        <p:txBody>
          <a:bodyPr wrap="none" lIns="45720" rIns="45720" anchor="t">
            <a:spAutoFit/>
          </a:bodyPr>
          <a:lstStyle/>
          <a:p>
            <a:pPr algn="l"/>
            <a:r>
              <a:rPr sz="2200" b="1">
                <a:solidFill>
                  <a:srgbClr val="FFFFFF"/>
                </a:solidFill>
                <a:latin typeface="Aptos"/>
              </a:rPr>
              <a:t>16 Sobol sites
× 2 replicas</a:t>
            </a:r>
          </a:p>
        </p:txBody>
      </p:sp>
      <p:sp>
        <p:nvSpPr>
          <p:cNvPr id="7" name="TextBox 6"/>
          <p:cNvSpPr txBox="1"/>
          <p:nvPr/>
        </p:nvSpPr>
        <p:spPr>
          <a:xfrm>
            <a:off x="7955279" y="2743200"/>
            <a:ext cx="3474720" cy="1051560"/>
          </a:xfrm>
          <a:prstGeom prst="rect">
            <a:avLst/>
          </a:prstGeom>
          <a:noFill/>
        </p:spPr>
        <p:txBody>
          <a:bodyPr wrap="none" lIns="45720" rIns="45720" anchor="t">
            <a:spAutoFit/>
          </a:bodyPr>
          <a:lstStyle/>
          <a:p>
            <a:pPr algn="l"/>
            <a:r>
              <a:rPr sz="2200" b="1">
                <a:solidFill>
                  <a:srgbClr val="FFFFFF"/>
                </a:solidFill>
                <a:latin typeface="Aptos"/>
              </a:rPr>
              <a:t>Objective
total junction QPs</a:t>
            </a:r>
          </a:p>
        </p:txBody>
      </p:sp>
      <p:sp>
        <p:nvSpPr>
          <p:cNvPr id="8" name="TextBox 7"/>
          <p:cNvSpPr txBox="1"/>
          <p:nvPr/>
        </p:nvSpPr>
        <p:spPr>
          <a:xfrm>
            <a:off x="685800" y="5074920"/>
            <a:ext cx="10607040" cy="493776"/>
          </a:xfrm>
          <a:prstGeom prst="rect">
            <a:avLst/>
          </a:prstGeom>
          <a:noFill/>
        </p:spPr>
        <p:txBody>
          <a:bodyPr wrap="none" lIns="45720" rIns="45720" anchor="t">
            <a:spAutoFit/>
          </a:bodyPr>
          <a:lstStyle/>
          <a:p>
            <a:pPr algn="l"/>
            <a:r>
              <a:rPr sz="1900" b="1">
                <a:solidFill>
                  <a:srgbClr val="F59E42"/>
                </a:solidFill>
                <a:latin typeface="Aptos"/>
              </a:rPr>
              <a:t>Outcome: technically complete; promising screen; not yet a final material decision</a:t>
            </a:r>
          </a:p>
        </p:txBody>
      </p:sp>
      <p:sp>
        <p:nvSpPr>
          <p:cNvPr id="9" name="TextBox 8"/>
          <p:cNvSpPr txBox="1"/>
          <p:nvPr/>
        </p:nvSpPr>
        <p:spPr>
          <a:xfrm>
            <a:off x="685800" y="5897880"/>
            <a:ext cx="10607040" cy="292608"/>
          </a:xfrm>
          <a:prstGeom prst="rect">
            <a:avLst/>
          </a:prstGeom>
          <a:noFill/>
        </p:spPr>
        <p:txBody>
          <a:bodyPr wrap="none" lIns="45720" rIns="45720" anchor="t">
            <a:spAutoFit/>
          </a:bodyPr>
          <a:lstStyle/>
          <a:p>
            <a:pPr algn="l"/>
            <a:r>
              <a:rPr sz="1100" b="0">
                <a:solidFill>
                  <a:srgbClr val="AFC4CF"/>
                </a:solidFill>
                <a:latin typeface="Aptos"/>
              </a:rPr>
              <a:t>Reviewed 13 August 2026</a:t>
            </a:r>
          </a:p>
        </p:txBody>
      </p:sp>
      <p:sp>
        <p:nvSpPr>
          <p:cNvPr id="10" name="TextBox 9"/>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AFC4CF"/>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Why minimize quasiparticle generation?</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34440"/>
            <a:ext cx="3337560" cy="438912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234440"/>
            <a:ext cx="91440" cy="438912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371600"/>
            <a:ext cx="2990088" cy="310896"/>
          </a:xfrm>
          <a:prstGeom prst="rect">
            <a:avLst/>
          </a:prstGeom>
          <a:noFill/>
        </p:spPr>
        <p:txBody>
          <a:bodyPr wrap="none" lIns="45720" rIns="45720" anchor="t">
            <a:spAutoFit/>
          </a:bodyPr>
          <a:lstStyle/>
          <a:p>
            <a:pPr algn="l"/>
            <a:r>
              <a:rPr sz="1400" b="1">
                <a:solidFill>
                  <a:srgbClr val="10243E"/>
                </a:solidFill>
                <a:latin typeface="Aptos"/>
              </a:rPr>
              <a:t>1  Energy deposition</a:t>
            </a:r>
          </a:p>
        </p:txBody>
      </p:sp>
      <p:sp>
        <p:nvSpPr>
          <p:cNvPr id="8" name="TextBox 7"/>
          <p:cNvSpPr txBox="1"/>
          <p:nvPr/>
        </p:nvSpPr>
        <p:spPr>
          <a:xfrm>
            <a:off x="877824" y="1764792"/>
            <a:ext cx="2990088" cy="3767328"/>
          </a:xfrm>
          <a:prstGeom prst="rect">
            <a:avLst/>
          </a:prstGeom>
          <a:noFill/>
        </p:spPr>
        <p:txBody>
          <a:bodyPr wrap="none" lIns="45720" rIns="45720" anchor="t">
            <a:spAutoFit/>
          </a:bodyPr>
          <a:lstStyle/>
          <a:p>
            <a:pPr algn="l"/>
            <a:r>
              <a:rPr sz="1700" b="0">
                <a:solidFill>
                  <a:srgbClr val="17242C"/>
                </a:solidFill>
                <a:latin typeface="Aptos"/>
              </a:rPr>
              <a:t>Ionizing radiation, stress-release events, or injected athermal phonons deposit energy into the cryogenic chip substrate.</a:t>
            </a:r>
          </a:p>
        </p:txBody>
      </p:sp>
      <p:sp>
        <p:nvSpPr>
          <p:cNvPr id="9" name="Rounded Rectangle 8"/>
          <p:cNvSpPr/>
          <p:nvPr/>
        </p:nvSpPr>
        <p:spPr>
          <a:xfrm>
            <a:off x="4416552" y="1234440"/>
            <a:ext cx="3337560" cy="438912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16552" y="1234440"/>
            <a:ext cx="91440" cy="438912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36008" y="1371600"/>
            <a:ext cx="2990088" cy="310896"/>
          </a:xfrm>
          <a:prstGeom prst="rect">
            <a:avLst/>
          </a:prstGeom>
          <a:noFill/>
        </p:spPr>
        <p:txBody>
          <a:bodyPr wrap="none" lIns="45720" rIns="45720" anchor="t">
            <a:spAutoFit/>
          </a:bodyPr>
          <a:lstStyle/>
          <a:p>
            <a:pPr algn="l"/>
            <a:r>
              <a:rPr sz="1400" b="1">
                <a:solidFill>
                  <a:srgbClr val="10243E"/>
                </a:solidFill>
                <a:latin typeface="Aptos"/>
              </a:rPr>
              <a:t>2  Phonon cascade</a:t>
            </a:r>
          </a:p>
        </p:txBody>
      </p:sp>
      <p:sp>
        <p:nvSpPr>
          <p:cNvPr id="12" name="TextBox 11"/>
          <p:cNvSpPr txBox="1"/>
          <p:nvPr/>
        </p:nvSpPr>
        <p:spPr>
          <a:xfrm>
            <a:off x="4636008" y="1764792"/>
            <a:ext cx="2990088" cy="3767328"/>
          </a:xfrm>
          <a:prstGeom prst="rect">
            <a:avLst/>
          </a:prstGeom>
          <a:noFill/>
        </p:spPr>
        <p:txBody>
          <a:bodyPr wrap="none" lIns="45720" rIns="45720" anchor="t">
            <a:spAutoFit/>
          </a:bodyPr>
          <a:lstStyle/>
          <a:p>
            <a:pPr algn="l"/>
            <a:r>
              <a:rPr sz="1700" b="0">
                <a:solidFill>
                  <a:srgbClr val="17242C"/>
                </a:solidFill>
                <a:latin typeface="Aptos"/>
              </a:rPr>
              <a:t>Athermal acoustic phonons propagate anisotropically, scatter, decay, and repeatedly encounter device interfaces.</a:t>
            </a:r>
          </a:p>
        </p:txBody>
      </p:sp>
      <p:sp>
        <p:nvSpPr>
          <p:cNvPr id="13" name="Rounded Rectangle 12"/>
          <p:cNvSpPr/>
          <p:nvPr/>
        </p:nvSpPr>
        <p:spPr>
          <a:xfrm>
            <a:off x="8174736" y="1234440"/>
            <a:ext cx="3337560" cy="438912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74736" y="1234440"/>
            <a:ext cx="91440" cy="438912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371600"/>
            <a:ext cx="2990088" cy="310896"/>
          </a:xfrm>
          <a:prstGeom prst="rect">
            <a:avLst/>
          </a:prstGeom>
          <a:noFill/>
        </p:spPr>
        <p:txBody>
          <a:bodyPr wrap="none" lIns="45720" rIns="45720" anchor="t">
            <a:spAutoFit/>
          </a:bodyPr>
          <a:lstStyle/>
          <a:p>
            <a:pPr algn="l"/>
            <a:r>
              <a:rPr sz="1400" b="1">
                <a:solidFill>
                  <a:srgbClr val="10243E"/>
                </a:solidFill>
                <a:latin typeface="Aptos"/>
              </a:rPr>
              <a:t>3  Correlated qubit damage</a:t>
            </a:r>
          </a:p>
        </p:txBody>
      </p:sp>
      <p:sp>
        <p:nvSpPr>
          <p:cNvPr id="16" name="TextBox 15"/>
          <p:cNvSpPr txBox="1"/>
          <p:nvPr/>
        </p:nvSpPr>
        <p:spPr>
          <a:xfrm>
            <a:off x="8394192" y="1764792"/>
            <a:ext cx="2990088" cy="3767328"/>
          </a:xfrm>
          <a:prstGeom prst="rect">
            <a:avLst/>
          </a:prstGeom>
          <a:noFill/>
        </p:spPr>
        <p:txBody>
          <a:bodyPr wrap="none" lIns="45720" rIns="45720" anchor="t">
            <a:spAutoFit/>
          </a:bodyPr>
          <a:lstStyle/>
          <a:p>
            <a:pPr algn="l"/>
            <a:r>
              <a:rPr sz="1700" b="0">
                <a:solidFill>
                  <a:srgbClr val="17242C"/>
                </a:solidFill>
                <a:latin typeface="Aptos"/>
              </a:rPr>
              <a:t>Pair-breaking phonons create nonequilibrium QPs in superconducting structures. QPs shorten T₁ and can correlate errors across many qubits.</a:t>
            </a:r>
          </a:p>
        </p:txBody>
      </p:sp>
      <p:sp>
        <p:nvSpPr>
          <p:cNvPr id="17" name="TextBox 16"/>
          <p:cNvSpPr txBox="1"/>
          <p:nvPr/>
        </p:nvSpPr>
        <p:spPr>
          <a:xfrm>
            <a:off x="914400" y="5870448"/>
            <a:ext cx="10332720" cy="347472"/>
          </a:xfrm>
          <a:prstGeom prst="rect">
            <a:avLst/>
          </a:prstGeom>
          <a:noFill/>
        </p:spPr>
        <p:txBody>
          <a:bodyPr wrap="none" lIns="45720" rIns="45720" anchor="t">
            <a:spAutoFit/>
          </a:bodyPr>
          <a:lstStyle/>
          <a:p>
            <a:pPr algn="ctr"/>
            <a:r>
              <a:rPr sz="1600" b="1">
                <a:solidFill>
                  <a:srgbClr val="10243E"/>
                </a:solidFill>
                <a:latin typeface="Aptos"/>
              </a:rPr>
              <a:t>Stage 3 asks which realizable layer triplet redirects or downconverts phonon energy before it reaches the Al junctions.</a:t>
            </a:r>
          </a:p>
        </p:txBody>
      </p:sp>
      <p:sp>
        <p:nvSpPr>
          <p:cNvPr id="18" name="TextBox 17"/>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Context: Martinis, npj Quantum Information 7, 90 (2021); Wilen et al., Nature Communications 13, 6425 (2022).</a:t>
            </a:r>
          </a:p>
        </p:txBody>
      </p:sp>
      <p:sp>
        <p:nvSpPr>
          <p:cNvPr id="19" name="TextBox 18"/>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What was simulated</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00784" y="749808"/>
            <a:ext cx="9784080" cy="292608"/>
          </a:xfrm>
          <a:prstGeom prst="rect">
            <a:avLst/>
          </a:prstGeom>
          <a:noFill/>
        </p:spPr>
        <p:txBody>
          <a:bodyPr wrap="none" lIns="45720" rIns="45720" anchor="t">
            <a:spAutoFit/>
          </a:bodyPr>
          <a:lstStyle/>
          <a:p>
            <a:pPr algn="l"/>
            <a:r>
              <a:rPr sz="1050" b="0">
                <a:solidFill>
                  <a:srgbClr val="526573"/>
                </a:solidFill>
                <a:latin typeface="Aptos"/>
              </a:rPr>
              <a:t>Cross-section and top-view geometry</a:t>
            </a:r>
          </a:p>
        </p:txBody>
      </p:sp>
      <p:pic>
        <p:nvPicPr>
          <p:cNvPr id="6" name="Picture 5" descr="device_and_sites.png"/>
          <p:cNvPicPr>
            <a:picLocks noChangeAspect="1"/>
          </p:cNvPicPr>
          <p:nvPr/>
        </p:nvPicPr>
        <p:blipFill>
          <a:blip r:embed="rId2"/>
          <a:stretch>
            <a:fillRect/>
          </a:stretch>
        </p:blipFill>
        <p:spPr>
          <a:xfrm>
            <a:off x="502920" y="1033271"/>
            <a:ext cx="11201400" cy="5257800"/>
          </a:xfrm>
          <a:prstGeom prst="rect">
            <a:avLst/>
          </a:prstGeom>
        </p:spPr>
      </p:pic>
      <p:sp>
        <p:nvSpPr>
          <p:cNvPr id="7" name="TextBox 6"/>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Illustration generated from stage3_config.yaml and the SQLite-recorded Sobol scenario; vertical thicknesses are schematic.</a:t>
            </a:r>
          </a:p>
        </p:txBody>
      </p:sp>
      <p:sp>
        <p:nvSpPr>
          <p:cNvPr id="8" name="TextBox 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Energy protocol: a deliberate all-films-active regime</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207008"/>
            <a:ext cx="10698480" cy="502920"/>
          </a:xfrm>
          <a:prstGeom prst="rect">
            <a:avLst/>
          </a:prstGeom>
          <a:noFill/>
        </p:spPr>
        <p:txBody>
          <a:bodyPr wrap="none" lIns="45720" rIns="45720" anchor="t">
            <a:spAutoFit/>
          </a:bodyPr>
          <a:lstStyle/>
          <a:p>
            <a:pPr algn="ctr"/>
            <a:r>
              <a:rPr sz="2800" b="1">
                <a:solidFill>
                  <a:srgbClr val="10243E"/>
                </a:solidFill>
                <a:latin typeface="Aptos"/>
              </a:rPr>
              <a:t>38.2 µeV  &lt;  382 µeV  &lt;  10,000 µeV</a:t>
            </a:r>
          </a:p>
        </p:txBody>
      </p:sp>
      <p:sp>
        <p:nvSpPr>
          <p:cNvPr id="6" name="TextBox 5"/>
          <p:cNvSpPr txBox="1"/>
          <p:nvPr/>
        </p:nvSpPr>
        <p:spPr>
          <a:xfrm>
            <a:off x="777240" y="1737360"/>
            <a:ext cx="10698480" cy="310896"/>
          </a:xfrm>
          <a:prstGeom prst="rect">
            <a:avLst/>
          </a:prstGeom>
          <a:noFill/>
        </p:spPr>
        <p:txBody>
          <a:bodyPr wrap="none" lIns="45720" rIns="45720" anchor="t">
            <a:spAutoFit/>
          </a:bodyPr>
          <a:lstStyle/>
          <a:p>
            <a:pPr algn="ctr"/>
            <a:r>
              <a:rPr sz="1300" b="0">
                <a:solidFill>
                  <a:srgbClr val="526573"/>
                </a:solidFill>
                <a:latin typeface="Aptos"/>
              </a:rPr>
              <a:t>tracking cutoff       Al junction pair threshold       injected phonon</a:t>
            </a:r>
          </a:p>
        </p:txBody>
      </p:sp>
      <p:cxnSp>
        <p:nvCxnSpPr>
          <p:cNvPr id="7" name="Connector 6"/>
          <p:cNvCxnSpPr/>
          <p:nvPr/>
        </p:nvCxnSpPr>
        <p:spPr>
          <a:xfrm>
            <a:off x="914400" y="2907792"/>
            <a:ext cx="10241280" cy="0"/>
          </a:xfrm>
          <a:prstGeom prst="line">
            <a:avLst/>
          </a:prstGeom>
          <a:ln w="38100">
            <a:solidFill>
              <a:srgbClr val="10243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327434" y="2761488"/>
            <a:ext cx="0" cy="329184"/>
          </a:xfrm>
          <a:prstGeom prst="line">
            <a:avLst/>
          </a:prstGeom>
          <a:ln w="31750">
            <a:solidFill>
              <a:srgbClr val="00A6A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34242" y="3154680"/>
            <a:ext cx="786384" cy="502920"/>
          </a:xfrm>
          <a:prstGeom prst="rect">
            <a:avLst/>
          </a:prstGeom>
          <a:noFill/>
        </p:spPr>
        <p:txBody>
          <a:bodyPr wrap="none" lIns="45720" rIns="45720" anchor="t">
            <a:spAutoFit/>
          </a:bodyPr>
          <a:lstStyle/>
          <a:p>
            <a:pPr algn="ctr"/>
            <a:r>
              <a:rPr sz="950" b="1">
                <a:solidFill>
                  <a:srgbClr val="00A6A6"/>
                </a:solidFill>
                <a:latin typeface="Aptos"/>
              </a:rPr>
              <a:t>cutoff
38.2 µeV</a:t>
            </a:r>
          </a:p>
        </p:txBody>
      </p:sp>
      <p:cxnSp>
        <p:nvCxnSpPr>
          <p:cNvPr id="10" name="Connector 9"/>
          <p:cNvCxnSpPr/>
          <p:nvPr/>
        </p:nvCxnSpPr>
        <p:spPr>
          <a:xfrm>
            <a:off x="3312262" y="2761488"/>
            <a:ext cx="0" cy="329184"/>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919070" y="3154680"/>
            <a:ext cx="786384" cy="502920"/>
          </a:xfrm>
          <a:prstGeom prst="rect">
            <a:avLst/>
          </a:prstGeom>
          <a:noFill/>
        </p:spPr>
        <p:txBody>
          <a:bodyPr wrap="none" lIns="45720" rIns="45720" anchor="t">
            <a:spAutoFit/>
          </a:bodyPr>
          <a:lstStyle/>
          <a:p>
            <a:pPr algn="ctr"/>
            <a:r>
              <a:rPr sz="950" b="1">
                <a:solidFill>
                  <a:srgbClr val="F59E42"/>
                </a:solidFill>
                <a:latin typeface="Aptos"/>
              </a:rPr>
              <a:t>Ti 2Δ
122 µeV</a:t>
            </a:r>
          </a:p>
        </p:txBody>
      </p:sp>
      <p:cxnSp>
        <p:nvCxnSpPr>
          <p:cNvPr id="12" name="Connector 11"/>
          <p:cNvCxnSpPr/>
          <p:nvPr/>
        </p:nvCxnSpPr>
        <p:spPr>
          <a:xfrm>
            <a:off x="5263270" y="2761488"/>
            <a:ext cx="0" cy="329184"/>
          </a:xfrm>
          <a:prstGeom prst="line">
            <a:avLst/>
          </a:prstGeom>
          <a:ln w="31750">
            <a:solidFill>
              <a:srgbClr val="D9534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70078" y="3154680"/>
            <a:ext cx="786384" cy="502920"/>
          </a:xfrm>
          <a:prstGeom prst="rect">
            <a:avLst/>
          </a:prstGeom>
          <a:noFill/>
        </p:spPr>
        <p:txBody>
          <a:bodyPr wrap="none" lIns="45720" rIns="45720" anchor="t">
            <a:spAutoFit/>
          </a:bodyPr>
          <a:lstStyle/>
          <a:p>
            <a:pPr algn="ctr"/>
            <a:r>
              <a:rPr sz="950" b="1">
                <a:solidFill>
                  <a:srgbClr val="D9534F"/>
                </a:solidFill>
                <a:latin typeface="Aptos"/>
              </a:rPr>
              <a:t>Al 2Δ
382 µeV</a:t>
            </a:r>
          </a:p>
        </p:txBody>
      </p:sp>
      <p:cxnSp>
        <p:nvCxnSpPr>
          <p:cNvPr id="14" name="Connector 13"/>
          <p:cNvCxnSpPr/>
          <p:nvPr/>
        </p:nvCxnSpPr>
        <p:spPr>
          <a:xfrm>
            <a:off x="7483336" y="2761488"/>
            <a:ext cx="0" cy="329184"/>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090144" y="3154680"/>
            <a:ext cx="786384" cy="502920"/>
          </a:xfrm>
          <a:prstGeom prst="rect">
            <a:avLst/>
          </a:prstGeom>
          <a:noFill/>
        </p:spPr>
        <p:txBody>
          <a:bodyPr wrap="none" lIns="45720" rIns="45720" anchor="t">
            <a:spAutoFit/>
          </a:bodyPr>
          <a:lstStyle/>
          <a:p>
            <a:pPr algn="ctr"/>
            <a:r>
              <a:rPr sz="950" b="1">
                <a:solidFill>
                  <a:srgbClr val="F59E42"/>
                </a:solidFill>
                <a:latin typeface="Aptos"/>
              </a:rPr>
              <a:t>Ta 2Δ
1400 µeV</a:t>
            </a:r>
          </a:p>
        </p:txBody>
      </p:sp>
      <p:cxnSp>
        <p:nvCxnSpPr>
          <p:cNvPr id="16" name="Connector 15"/>
          <p:cNvCxnSpPr/>
          <p:nvPr/>
        </p:nvCxnSpPr>
        <p:spPr>
          <a:xfrm>
            <a:off x="8829278" y="2761488"/>
            <a:ext cx="0" cy="329184"/>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36086" y="3154680"/>
            <a:ext cx="786384" cy="502920"/>
          </a:xfrm>
          <a:prstGeom prst="rect">
            <a:avLst/>
          </a:prstGeom>
          <a:noFill/>
        </p:spPr>
        <p:txBody>
          <a:bodyPr wrap="none" lIns="45720" rIns="45720" anchor="t">
            <a:spAutoFit/>
          </a:bodyPr>
          <a:lstStyle/>
          <a:p>
            <a:pPr algn="ctr"/>
            <a:r>
              <a:rPr sz="950" b="1">
                <a:solidFill>
                  <a:srgbClr val="F59E42"/>
                </a:solidFill>
                <a:latin typeface="Aptos"/>
              </a:rPr>
              <a:t>Nb 2Δ
3076.8 µeV</a:t>
            </a:r>
          </a:p>
        </p:txBody>
      </p:sp>
      <p:cxnSp>
        <p:nvCxnSpPr>
          <p:cNvPr id="18" name="Connector 17"/>
          <p:cNvCxnSpPr/>
          <p:nvPr/>
        </p:nvCxnSpPr>
        <p:spPr>
          <a:xfrm>
            <a:off x="10844035" y="2761488"/>
            <a:ext cx="0" cy="329184"/>
          </a:xfrm>
          <a:prstGeom prst="line">
            <a:avLst/>
          </a:prstGeom>
          <a:ln w="31750">
            <a:solidFill>
              <a:srgbClr val="10243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450843" y="3154680"/>
            <a:ext cx="786384" cy="502920"/>
          </a:xfrm>
          <a:prstGeom prst="rect">
            <a:avLst/>
          </a:prstGeom>
          <a:noFill/>
        </p:spPr>
        <p:txBody>
          <a:bodyPr wrap="none" lIns="45720" rIns="45720" anchor="t">
            <a:spAutoFit/>
          </a:bodyPr>
          <a:lstStyle/>
          <a:p>
            <a:pPr algn="ctr"/>
            <a:r>
              <a:rPr sz="950" b="1">
                <a:solidFill>
                  <a:srgbClr val="10243E"/>
                </a:solidFill>
                <a:latin typeface="Aptos"/>
              </a:rPr>
              <a:t>gun
10000 µeV</a:t>
            </a:r>
          </a:p>
        </p:txBody>
      </p:sp>
      <p:sp>
        <p:nvSpPr>
          <p:cNvPr id="20" name="Rounded Rectangle 19"/>
          <p:cNvSpPr/>
          <p:nvPr/>
        </p:nvSpPr>
        <p:spPr>
          <a:xfrm>
            <a:off x="731520" y="4160520"/>
            <a:ext cx="333756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160520"/>
            <a:ext cx="91440" cy="1234440"/>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0976" y="4297680"/>
            <a:ext cx="2990088" cy="310896"/>
          </a:xfrm>
          <a:prstGeom prst="rect">
            <a:avLst/>
          </a:prstGeom>
          <a:noFill/>
        </p:spPr>
        <p:txBody>
          <a:bodyPr wrap="none" lIns="45720" rIns="45720" anchor="t">
            <a:spAutoFit/>
          </a:bodyPr>
          <a:lstStyle/>
          <a:p>
            <a:pPr algn="l"/>
            <a:r>
              <a:rPr sz="1400" b="1">
                <a:solidFill>
                  <a:srgbClr val="10243E"/>
                </a:solidFill>
                <a:latin typeface="Aptos"/>
              </a:rPr>
              <a:t>What this guarantees</a:t>
            </a:r>
          </a:p>
        </p:txBody>
      </p:sp>
      <p:sp>
        <p:nvSpPr>
          <p:cNvPr id="23" name="TextBox 22"/>
          <p:cNvSpPr txBox="1"/>
          <p:nvPr/>
        </p:nvSpPr>
        <p:spPr>
          <a:xfrm>
            <a:off x="950976" y="4690872"/>
            <a:ext cx="2990088" cy="612648"/>
          </a:xfrm>
          <a:prstGeom prst="rect">
            <a:avLst/>
          </a:prstGeom>
          <a:noFill/>
        </p:spPr>
        <p:txBody>
          <a:bodyPr wrap="none" lIns="45720" rIns="45720" anchor="t">
            <a:spAutoFit/>
          </a:bodyPr>
          <a:lstStyle/>
          <a:p>
            <a:pPr algn="l"/>
            <a:r>
              <a:rPr sz="1300" b="0">
                <a:solidFill>
                  <a:srgbClr val="17242C"/>
                </a:solidFill>
                <a:latin typeface="Aptos"/>
              </a:rPr>
              <a:t>All three top films can compete for incident phonons; the comparison stays in one qualitative absorption regime.</a:t>
            </a:r>
          </a:p>
        </p:txBody>
      </p:sp>
      <p:sp>
        <p:nvSpPr>
          <p:cNvPr id="24" name="Rounded Rectangle 23"/>
          <p:cNvSpPr/>
          <p:nvPr/>
        </p:nvSpPr>
        <p:spPr>
          <a:xfrm>
            <a:off x="4416552" y="4160520"/>
            <a:ext cx="333756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6552" y="4160520"/>
            <a:ext cx="91440" cy="12344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36008" y="4297680"/>
            <a:ext cx="2990088" cy="310896"/>
          </a:xfrm>
          <a:prstGeom prst="rect">
            <a:avLst/>
          </a:prstGeom>
          <a:noFill/>
        </p:spPr>
        <p:txBody>
          <a:bodyPr wrap="none" lIns="45720" rIns="45720" anchor="t">
            <a:spAutoFit/>
          </a:bodyPr>
          <a:lstStyle/>
          <a:p>
            <a:pPr algn="l"/>
            <a:r>
              <a:rPr sz="1400" b="1">
                <a:solidFill>
                  <a:srgbClr val="10243E"/>
                </a:solidFill>
                <a:latin typeface="Aptos"/>
              </a:rPr>
              <a:t>What remains junction-only</a:t>
            </a:r>
          </a:p>
        </p:txBody>
      </p:sp>
      <p:sp>
        <p:nvSpPr>
          <p:cNvPr id="27" name="TextBox 26"/>
          <p:cNvSpPr txBox="1"/>
          <p:nvPr/>
        </p:nvSpPr>
        <p:spPr>
          <a:xfrm>
            <a:off x="4636008" y="4690872"/>
            <a:ext cx="2990088" cy="612648"/>
          </a:xfrm>
          <a:prstGeom prst="rect">
            <a:avLst/>
          </a:prstGeom>
          <a:noFill/>
        </p:spPr>
        <p:txBody>
          <a:bodyPr wrap="none" lIns="45720" rIns="45720" anchor="t">
            <a:spAutoFit/>
          </a:bodyPr>
          <a:lstStyle/>
          <a:p>
            <a:pPr algn="l"/>
            <a:r>
              <a:rPr sz="1300" b="0">
                <a:solidFill>
                  <a:srgbClr val="17242C"/>
                </a:solidFill>
                <a:latin typeface="Aptos"/>
              </a:rPr>
              <a:t>The Junction hit filter records energy at the 17 Al junction footprints—not QPs generated in the ground plane.</a:t>
            </a:r>
          </a:p>
        </p:txBody>
      </p:sp>
      <p:sp>
        <p:nvSpPr>
          <p:cNvPr id="28" name="Rounded Rectangle 27"/>
          <p:cNvSpPr/>
          <p:nvPr/>
        </p:nvSpPr>
        <p:spPr>
          <a:xfrm>
            <a:off x="8101583" y="4160520"/>
            <a:ext cx="333756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01583" y="4160520"/>
            <a:ext cx="91440" cy="123444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4297680"/>
            <a:ext cx="2990088" cy="310896"/>
          </a:xfrm>
          <a:prstGeom prst="rect">
            <a:avLst/>
          </a:prstGeom>
          <a:noFill/>
        </p:spPr>
        <p:txBody>
          <a:bodyPr wrap="none" lIns="45720" rIns="45720" anchor="t">
            <a:spAutoFit/>
          </a:bodyPr>
          <a:lstStyle/>
          <a:p>
            <a:pPr algn="l"/>
            <a:r>
              <a:rPr sz="1400" b="1">
                <a:solidFill>
                  <a:srgbClr val="10243E"/>
                </a:solidFill>
                <a:latin typeface="Aptos"/>
              </a:rPr>
              <a:t>Interpretation boundary</a:t>
            </a:r>
          </a:p>
        </p:txBody>
      </p:sp>
      <p:sp>
        <p:nvSpPr>
          <p:cNvPr id="31" name="TextBox 30"/>
          <p:cNvSpPr txBox="1"/>
          <p:nvPr/>
        </p:nvSpPr>
        <p:spPr>
          <a:xfrm>
            <a:off x="8321040" y="4690872"/>
            <a:ext cx="2990088" cy="612648"/>
          </a:xfrm>
          <a:prstGeom prst="rect">
            <a:avLst/>
          </a:prstGeom>
          <a:noFill/>
        </p:spPr>
        <p:txBody>
          <a:bodyPr wrap="none" lIns="45720" rIns="45720" anchor="t">
            <a:spAutoFit/>
          </a:bodyPr>
          <a:lstStyle/>
          <a:p>
            <a:pPr algn="l"/>
            <a:r>
              <a:rPr sz="1300" b="0">
                <a:solidFill>
                  <a:srgbClr val="17242C"/>
                </a:solidFill>
                <a:latin typeface="Aptos"/>
              </a:rPr>
              <a:t>These results describe 10 meV injection. They do not directly predict the former 1 meV protocol.</a:t>
            </a:r>
          </a:p>
        </p:txBody>
      </p:sp>
      <p:sp>
        <p:nvSpPr>
          <p:cNvPr id="32" name="TextBox 31"/>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G4CMP transport context: Agnese et al., arXiv:2302.05998 / FERMILAB-PUB-23-065-ND.</a:t>
            </a:r>
          </a:p>
        </p:txBody>
      </p:sp>
      <p:sp>
        <p:nvSpPr>
          <p:cNvPr id="33" name="TextBox 32"/>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Campaign workflow and data contract</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09344"/>
            <a:ext cx="438912" cy="219456"/>
          </a:xfrm>
          <a:prstGeom prst="rect">
            <a:avLst/>
          </a:prstGeom>
          <a:noFill/>
        </p:spPr>
        <p:txBody>
          <a:bodyPr wrap="none" lIns="45720" rIns="45720" anchor="t">
            <a:spAutoFit/>
          </a:bodyPr>
          <a:lstStyle/>
          <a:p>
            <a:pPr algn="ctr"/>
            <a:r>
              <a:rPr sz="1200" b="1">
                <a:solidFill>
                  <a:srgbClr val="FFFFFF"/>
                </a:solidFill>
                <a:latin typeface="Aptos"/>
              </a:rPr>
              <a:t>1</a:t>
            </a:r>
          </a:p>
        </p:txBody>
      </p:sp>
      <p:sp>
        <p:nvSpPr>
          <p:cNvPr id="8" name="TextBox 7"/>
          <p:cNvSpPr txBox="1"/>
          <p:nvPr/>
        </p:nvSpPr>
        <p:spPr>
          <a:xfrm>
            <a:off x="612648" y="2212848"/>
            <a:ext cx="1225296" cy="292608"/>
          </a:xfrm>
          <a:prstGeom prst="rect">
            <a:avLst/>
          </a:prstGeom>
          <a:noFill/>
        </p:spPr>
        <p:txBody>
          <a:bodyPr wrap="none" lIns="45720" rIns="45720" anchor="t">
            <a:spAutoFit/>
          </a:bodyPr>
          <a:lstStyle/>
          <a:p>
            <a:pPr algn="ctr"/>
            <a:r>
              <a:rPr sz="1300" b="1">
                <a:solidFill>
                  <a:srgbClr val="10243E"/>
                </a:solidFill>
                <a:latin typeface="Aptos"/>
              </a:rPr>
              <a:t>Candidate</a:t>
            </a:r>
          </a:p>
        </p:txBody>
      </p:sp>
      <p:sp>
        <p:nvSpPr>
          <p:cNvPr id="9" name="TextBox 8"/>
          <p:cNvSpPr txBox="1"/>
          <p:nvPr/>
        </p:nvSpPr>
        <p:spPr>
          <a:xfrm>
            <a:off x="612648" y="2679192"/>
            <a:ext cx="1225296" cy="841248"/>
          </a:xfrm>
          <a:prstGeom prst="rect">
            <a:avLst/>
          </a:prstGeom>
          <a:noFill/>
        </p:spPr>
        <p:txBody>
          <a:bodyPr wrap="none" lIns="45720" rIns="45720" anchor="t">
            <a:spAutoFit/>
          </a:bodyPr>
          <a:lstStyle/>
          <a:p>
            <a:pPr algn="ctr"/>
            <a:r>
              <a:rPr sz="1050" b="0">
                <a:solidFill>
                  <a:srgbClr val="526573"/>
                </a:solidFill>
                <a:latin typeface="Aptos"/>
              </a:rPr>
              <a:t>substrate + top + bottom</a:t>
            </a:r>
          </a:p>
        </p:txBody>
      </p:sp>
      <p:cxnSp>
        <p:nvCxnSpPr>
          <p:cNvPr id="10" name="Connector 9"/>
          <p:cNvCxnSpPr/>
          <p:nvPr/>
        </p:nvCxnSpPr>
        <p:spPr>
          <a:xfrm>
            <a:off x="1965960" y="2907792"/>
            <a:ext cx="484632" cy="0"/>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50592"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53512"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53512" y="1609344"/>
            <a:ext cx="438912" cy="219456"/>
          </a:xfrm>
          <a:prstGeom prst="rect">
            <a:avLst/>
          </a:prstGeom>
          <a:noFill/>
        </p:spPr>
        <p:txBody>
          <a:bodyPr wrap="none" lIns="45720" rIns="45720" anchor="t">
            <a:spAutoFit/>
          </a:bodyPr>
          <a:lstStyle/>
          <a:p>
            <a:pPr algn="ctr"/>
            <a:r>
              <a:rPr sz="1200" b="1">
                <a:solidFill>
                  <a:srgbClr val="FFFFFF"/>
                </a:solidFill>
                <a:latin typeface="Aptos"/>
              </a:rPr>
              <a:t>2</a:t>
            </a:r>
          </a:p>
        </p:txBody>
      </p:sp>
      <p:sp>
        <p:nvSpPr>
          <p:cNvPr id="14" name="TextBox 13"/>
          <p:cNvSpPr txBox="1"/>
          <p:nvPr/>
        </p:nvSpPr>
        <p:spPr>
          <a:xfrm>
            <a:off x="2560320" y="2212848"/>
            <a:ext cx="1225296" cy="292608"/>
          </a:xfrm>
          <a:prstGeom prst="rect">
            <a:avLst/>
          </a:prstGeom>
          <a:noFill/>
        </p:spPr>
        <p:txBody>
          <a:bodyPr wrap="none" lIns="45720" rIns="45720" anchor="t">
            <a:spAutoFit/>
          </a:bodyPr>
          <a:lstStyle/>
          <a:p>
            <a:pPr algn="ctr"/>
            <a:r>
              <a:rPr sz="1300" b="1">
                <a:solidFill>
                  <a:srgbClr val="10243E"/>
                </a:solidFill>
                <a:latin typeface="Aptos"/>
              </a:rPr>
              <a:t>Resolver</a:t>
            </a:r>
          </a:p>
        </p:txBody>
      </p:sp>
      <p:sp>
        <p:nvSpPr>
          <p:cNvPr id="15" name="TextBox 14"/>
          <p:cNvSpPr txBox="1"/>
          <p:nvPr/>
        </p:nvSpPr>
        <p:spPr>
          <a:xfrm>
            <a:off x="2560320" y="2679192"/>
            <a:ext cx="1225296" cy="841248"/>
          </a:xfrm>
          <a:prstGeom prst="rect">
            <a:avLst/>
          </a:prstGeom>
          <a:noFill/>
        </p:spPr>
        <p:txBody>
          <a:bodyPr wrap="none" lIns="45720" rIns="45720" anchor="t">
            <a:spAutoFit/>
          </a:bodyPr>
          <a:lstStyle/>
          <a:p>
            <a:pPr algn="ctr"/>
            <a:r>
              <a:rPr sz="1050" b="0">
                <a:solidFill>
                  <a:srgbClr val="526573"/>
                </a:solidFill>
                <a:latin typeface="Aptos"/>
              </a:rPr>
              <a:t>density, tensor, native lattice, interfaces</a:t>
            </a:r>
          </a:p>
        </p:txBody>
      </p:sp>
      <p:cxnSp>
        <p:nvCxnSpPr>
          <p:cNvPr id="16" name="Connector 15"/>
          <p:cNvCxnSpPr/>
          <p:nvPr/>
        </p:nvCxnSpPr>
        <p:spPr>
          <a:xfrm>
            <a:off x="3913632" y="2907792"/>
            <a:ext cx="484632" cy="0"/>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98264"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901183"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01183" y="1609344"/>
            <a:ext cx="438912" cy="219456"/>
          </a:xfrm>
          <a:prstGeom prst="rect">
            <a:avLst/>
          </a:prstGeom>
          <a:noFill/>
        </p:spPr>
        <p:txBody>
          <a:bodyPr wrap="none" lIns="45720" rIns="45720" anchor="t">
            <a:spAutoFit/>
          </a:bodyPr>
          <a:lstStyle/>
          <a:p>
            <a:pPr algn="ctr"/>
            <a:r>
              <a:rPr sz="1200" b="1">
                <a:solidFill>
                  <a:srgbClr val="FFFFFF"/>
                </a:solidFill>
                <a:latin typeface="Aptos"/>
              </a:rPr>
              <a:t>3</a:t>
            </a:r>
          </a:p>
        </p:txBody>
      </p:sp>
      <p:sp>
        <p:nvSpPr>
          <p:cNvPr id="20" name="TextBox 19"/>
          <p:cNvSpPr txBox="1"/>
          <p:nvPr/>
        </p:nvSpPr>
        <p:spPr>
          <a:xfrm>
            <a:off x="4507992" y="2212848"/>
            <a:ext cx="1225296" cy="292608"/>
          </a:xfrm>
          <a:prstGeom prst="rect">
            <a:avLst/>
          </a:prstGeom>
          <a:noFill/>
        </p:spPr>
        <p:txBody>
          <a:bodyPr wrap="none" lIns="45720" rIns="45720" anchor="t">
            <a:spAutoFit/>
          </a:bodyPr>
          <a:lstStyle/>
          <a:p>
            <a:pPr algn="ctr"/>
            <a:r>
              <a:rPr sz="1300" b="1">
                <a:solidFill>
                  <a:srgbClr val="10243E"/>
                </a:solidFill>
                <a:latin typeface="Aptos"/>
              </a:rPr>
              <a:t>Scenario</a:t>
            </a:r>
          </a:p>
        </p:txBody>
      </p:sp>
      <p:sp>
        <p:nvSpPr>
          <p:cNvPr id="21" name="TextBox 20"/>
          <p:cNvSpPr txBox="1"/>
          <p:nvPr/>
        </p:nvSpPr>
        <p:spPr>
          <a:xfrm>
            <a:off x="4507992" y="2679192"/>
            <a:ext cx="1225296" cy="841248"/>
          </a:xfrm>
          <a:prstGeom prst="rect">
            <a:avLst/>
          </a:prstGeom>
          <a:noFill/>
        </p:spPr>
        <p:txBody>
          <a:bodyPr wrap="none" lIns="45720" rIns="45720" anchor="t">
            <a:spAutoFit/>
          </a:bodyPr>
          <a:lstStyle/>
          <a:p>
            <a:pPr algn="ctr"/>
            <a:r>
              <a:rPr sz="1050" b="0">
                <a:solidFill>
                  <a:srgbClr val="526573"/>
                </a:solidFill>
                <a:latin typeface="Aptos"/>
              </a:rPr>
              <a:t>16 sites × 2 replicas
125k events each</a:t>
            </a:r>
          </a:p>
        </p:txBody>
      </p:sp>
      <p:cxnSp>
        <p:nvCxnSpPr>
          <p:cNvPr id="22" name="Connector 21"/>
          <p:cNvCxnSpPr/>
          <p:nvPr/>
        </p:nvCxnSpPr>
        <p:spPr>
          <a:xfrm>
            <a:off x="5861304" y="2907792"/>
            <a:ext cx="484632" cy="0"/>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45936"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848856"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48856" y="1609344"/>
            <a:ext cx="438912" cy="219456"/>
          </a:xfrm>
          <a:prstGeom prst="rect">
            <a:avLst/>
          </a:prstGeom>
          <a:noFill/>
        </p:spPr>
        <p:txBody>
          <a:bodyPr wrap="none" lIns="45720" rIns="45720" anchor="t">
            <a:spAutoFit/>
          </a:bodyPr>
          <a:lstStyle/>
          <a:p>
            <a:pPr algn="ctr"/>
            <a:r>
              <a:rPr sz="1200" b="1">
                <a:solidFill>
                  <a:srgbClr val="FFFFFF"/>
                </a:solidFill>
                <a:latin typeface="Aptos"/>
              </a:rPr>
              <a:t>4</a:t>
            </a:r>
          </a:p>
        </p:txBody>
      </p:sp>
      <p:sp>
        <p:nvSpPr>
          <p:cNvPr id="26" name="TextBox 25"/>
          <p:cNvSpPr txBox="1"/>
          <p:nvPr/>
        </p:nvSpPr>
        <p:spPr>
          <a:xfrm>
            <a:off x="6455664" y="2212848"/>
            <a:ext cx="1225296" cy="292608"/>
          </a:xfrm>
          <a:prstGeom prst="rect">
            <a:avLst/>
          </a:prstGeom>
          <a:noFill/>
        </p:spPr>
        <p:txBody>
          <a:bodyPr wrap="none" lIns="45720" rIns="45720" anchor="t">
            <a:spAutoFit/>
          </a:bodyPr>
          <a:lstStyle/>
          <a:p>
            <a:pPr algn="ctr"/>
            <a:r>
              <a:rPr sz="1300" b="1">
                <a:solidFill>
                  <a:srgbClr val="10243E"/>
                </a:solidFill>
                <a:latin typeface="Aptos"/>
              </a:rPr>
              <a:t>Geant4/G4CMP</a:t>
            </a:r>
          </a:p>
        </p:txBody>
      </p:sp>
      <p:sp>
        <p:nvSpPr>
          <p:cNvPr id="27" name="TextBox 26"/>
          <p:cNvSpPr txBox="1"/>
          <p:nvPr/>
        </p:nvSpPr>
        <p:spPr>
          <a:xfrm>
            <a:off x="6455664" y="2679192"/>
            <a:ext cx="1225296" cy="841248"/>
          </a:xfrm>
          <a:prstGeom prst="rect">
            <a:avLst/>
          </a:prstGeom>
          <a:noFill/>
        </p:spPr>
        <p:txBody>
          <a:bodyPr wrap="none" lIns="45720" rIns="45720" anchor="t">
            <a:spAutoFit/>
          </a:bodyPr>
          <a:lstStyle/>
          <a:p>
            <a:pPr algn="ctr"/>
            <a:r>
              <a:rPr sz="1050" b="0">
                <a:solidFill>
                  <a:srgbClr val="526573"/>
                </a:solidFill>
                <a:latin typeface="Aptos"/>
              </a:rPr>
              <a:t>32 guarded sub-runs
per candidate</a:t>
            </a:r>
          </a:p>
        </p:txBody>
      </p:sp>
      <p:cxnSp>
        <p:nvCxnSpPr>
          <p:cNvPr id="28" name="Connector 27"/>
          <p:cNvCxnSpPr/>
          <p:nvPr/>
        </p:nvCxnSpPr>
        <p:spPr>
          <a:xfrm>
            <a:off x="7808976" y="2907792"/>
            <a:ext cx="484632" cy="0"/>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293608"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96528"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96528" y="1609344"/>
            <a:ext cx="438912" cy="219456"/>
          </a:xfrm>
          <a:prstGeom prst="rect">
            <a:avLst/>
          </a:prstGeom>
          <a:noFill/>
        </p:spPr>
        <p:txBody>
          <a:bodyPr wrap="none" lIns="45720" rIns="45720" anchor="t">
            <a:spAutoFit/>
          </a:bodyPr>
          <a:lstStyle/>
          <a:p>
            <a:pPr algn="ctr"/>
            <a:r>
              <a:rPr sz="1200" b="1">
                <a:solidFill>
                  <a:srgbClr val="FFFFFF"/>
                </a:solidFill>
                <a:latin typeface="Aptos"/>
              </a:rPr>
              <a:t>5</a:t>
            </a:r>
          </a:p>
        </p:txBody>
      </p:sp>
      <p:sp>
        <p:nvSpPr>
          <p:cNvPr id="32" name="TextBox 31"/>
          <p:cNvSpPr txBox="1"/>
          <p:nvPr/>
        </p:nvSpPr>
        <p:spPr>
          <a:xfrm>
            <a:off x="8403336" y="2212848"/>
            <a:ext cx="1225296" cy="292608"/>
          </a:xfrm>
          <a:prstGeom prst="rect">
            <a:avLst/>
          </a:prstGeom>
          <a:noFill/>
        </p:spPr>
        <p:txBody>
          <a:bodyPr wrap="none" lIns="45720" rIns="45720" anchor="t">
            <a:spAutoFit/>
          </a:bodyPr>
          <a:lstStyle/>
          <a:p>
            <a:pPr algn="ctr"/>
            <a:r>
              <a:rPr sz="1300" b="1">
                <a:solidFill>
                  <a:srgbClr val="10243E"/>
                </a:solidFill>
                <a:latin typeface="Aptos"/>
              </a:rPr>
              <a:t>Proof + ledger</a:t>
            </a:r>
          </a:p>
        </p:txBody>
      </p:sp>
      <p:sp>
        <p:nvSpPr>
          <p:cNvPr id="33" name="TextBox 32"/>
          <p:cNvSpPr txBox="1"/>
          <p:nvPr/>
        </p:nvSpPr>
        <p:spPr>
          <a:xfrm>
            <a:off x="8403336" y="2679192"/>
            <a:ext cx="1225296" cy="841248"/>
          </a:xfrm>
          <a:prstGeom prst="rect">
            <a:avLst/>
          </a:prstGeom>
          <a:noFill/>
        </p:spPr>
        <p:txBody>
          <a:bodyPr wrap="none" lIns="45720" rIns="45720" anchor="t">
            <a:spAutoFit/>
          </a:bodyPr>
          <a:lstStyle/>
          <a:p>
            <a:pPr algn="ctr"/>
            <a:r>
              <a:rPr sz="1050" b="0">
                <a:solidFill>
                  <a:srgbClr val="526573"/>
                </a:solidFill>
                <a:latin typeface="Aptos"/>
              </a:rPr>
              <a:t>marker, material check,
SQLite identities</a:t>
            </a:r>
          </a:p>
        </p:txBody>
      </p:sp>
      <p:cxnSp>
        <p:nvCxnSpPr>
          <p:cNvPr id="34" name="Connector 33"/>
          <p:cNvCxnSpPr/>
          <p:nvPr/>
        </p:nvCxnSpPr>
        <p:spPr>
          <a:xfrm>
            <a:off x="9756648" y="2907792"/>
            <a:ext cx="484632" cy="0"/>
          </a:xfrm>
          <a:prstGeom prst="line">
            <a:avLst/>
          </a:prstGeom>
          <a:ln w="31750">
            <a:solidFill>
              <a:srgbClr val="F59E42"/>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10241280" y="1993392"/>
            <a:ext cx="1444752" cy="1901952"/>
          </a:xfrm>
          <a:prstGeom prst="roundRect">
            <a:avLst/>
          </a:prstGeom>
          <a:solidFill>
            <a:srgbClr val="EDF4F7"/>
          </a:solidFill>
          <a:ln>
            <a:solidFill>
              <a:srgbClr val="00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744200" y="1554480"/>
            <a:ext cx="438912" cy="438912"/>
          </a:xfrm>
          <a:prstGeom prst="ellipse">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44200" y="1609344"/>
            <a:ext cx="438912" cy="219456"/>
          </a:xfrm>
          <a:prstGeom prst="rect">
            <a:avLst/>
          </a:prstGeom>
          <a:noFill/>
        </p:spPr>
        <p:txBody>
          <a:bodyPr wrap="none" lIns="45720" rIns="45720" anchor="t">
            <a:spAutoFit/>
          </a:bodyPr>
          <a:lstStyle/>
          <a:p>
            <a:pPr algn="ctr"/>
            <a:r>
              <a:rPr sz="1200" b="1">
                <a:solidFill>
                  <a:srgbClr val="FFFFFF"/>
                </a:solidFill>
                <a:latin typeface="Aptos"/>
              </a:rPr>
              <a:t>6</a:t>
            </a:r>
          </a:p>
        </p:txBody>
      </p:sp>
      <p:sp>
        <p:nvSpPr>
          <p:cNvPr id="38" name="TextBox 37"/>
          <p:cNvSpPr txBox="1"/>
          <p:nvPr/>
        </p:nvSpPr>
        <p:spPr>
          <a:xfrm>
            <a:off x="10351007" y="2212848"/>
            <a:ext cx="1225296" cy="292608"/>
          </a:xfrm>
          <a:prstGeom prst="rect">
            <a:avLst/>
          </a:prstGeom>
          <a:noFill/>
        </p:spPr>
        <p:txBody>
          <a:bodyPr wrap="none" lIns="45720" rIns="45720" anchor="t">
            <a:spAutoFit/>
          </a:bodyPr>
          <a:lstStyle/>
          <a:p>
            <a:pPr algn="ctr"/>
            <a:r>
              <a:rPr sz="1300" b="1">
                <a:solidFill>
                  <a:srgbClr val="10243E"/>
                </a:solidFill>
                <a:latin typeface="Aptos"/>
              </a:rPr>
              <a:t>Score</a:t>
            </a:r>
          </a:p>
        </p:txBody>
      </p:sp>
      <p:sp>
        <p:nvSpPr>
          <p:cNvPr id="39" name="TextBox 38"/>
          <p:cNvSpPr txBox="1"/>
          <p:nvPr/>
        </p:nvSpPr>
        <p:spPr>
          <a:xfrm>
            <a:off x="10351007" y="2679192"/>
            <a:ext cx="1225296" cy="841248"/>
          </a:xfrm>
          <a:prstGeom prst="rect">
            <a:avLst/>
          </a:prstGeom>
          <a:noFill/>
        </p:spPr>
        <p:txBody>
          <a:bodyPr wrap="none" lIns="45720" rIns="45720" anchor="t">
            <a:spAutoFit/>
          </a:bodyPr>
          <a:lstStyle/>
          <a:p>
            <a:pPr algn="ctr"/>
            <a:r>
              <a:rPr sz="1050" b="0">
                <a:solidFill>
                  <a:srgbClr val="526573"/>
                </a:solidFill>
                <a:latin typeface="Aptos"/>
              </a:rPr>
              <a:t>Σ junction QPs /
4M primaries</a:t>
            </a:r>
          </a:p>
        </p:txBody>
      </p:sp>
      <p:sp>
        <p:nvSpPr>
          <p:cNvPr id="40" name="Rounded Rectangle 39"/>
          <p:cNvSpPr/>
          <p:nvPr/>
        </p:nvSpPr>
        <p:spPr>
          <a:xfrm>
            <a:off x="914400" y="4572000"/>
            <a:ext cx="3108960" cy="107899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14400" y="4572000"/>
            <a:ext cx="91440" cy="1078992"/>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33856" y="4709160"/>
            <a:ext cx="2761488" cy="310896"/>
          </a:xfrm>
          <a:prstGeom prst="rect">
            <a:avLst/>
          </a:prstGeom>
          <a:noFill/>
        </p:spPr>
        <p:txBody>
          <a:bodyPr wrap="none" lIns="45720" rIns="45720" anchor="t">
            <a:spAutoFit/>
          </a:bodyPr>
          <a:lstStyle/>
          <a:p>
            <a:pPr algn="l"/>
            <a:r>
              <a:rPr sz="1400" b="1">
                <a:solidFill>
                  <a:srgbClr val="10243E"/>
                </a:solidFill>
                <a:latin typeface="Aptos"/>
              </a:rPr>
              <a:t>Common comparison block</a:t>
            </a:r>
          </a:p>
        </p:txBody>
      </p:sp>
      <p:sp>
        <p:nvSpPr>
          <p:cNvPr id="43" name="TextBox 42"/>
          <p:cNvSpPr txBox="1"/>
          <p:nvPr/>
        </p:nvSpPr>
        <p:spPr>
          <a:xfrm>
            <a:off x="1133856" y="5102352"/>
            <a:ext cx="2761488" cy="457199"/>
          </a:xfrm>
          <a:prstGeom prst="rect">
            <a:avLst/>
          </a:prstGeom>
          <a:noFill/>
        </p:spPr>
        <p:txBody>
          <a:bodyPr wrap="none" lIns="45720" rIns="45720" anchor="t">
            <a:spAutoFit/>
          </a:bodyPr>
          <a:lstStyle/>
          <a:p>
            <a:pPr algn="l"/>
            <a:r>
              <a:rPr sz="1200" b="0">
                <a:solidFill>
                  <a:srgbClr val="17242C"/>
                </a:solidFill>
                <a:latin typeface="Aptos"/>
              </a:rPr>
              <a:t>Same ordered sites and nominal seed bank for every material triplet</a:t>
            </a:r>
          </a:p>
        </p:txBody>
      </p:sp>
      <p:sp>
        <p:nvSpPr>
          <p:cNvPr id="44" name="Rounded Rectangle 43"/>
          <p:cNvSpPr/>
          <p:nvPr/>
        </p:nvSpPr>
        <p:spPr>
          <a:xfrm>
            <a:off x="4526280" y="4572000"/>
            <a:ext cx="3108960" cy="107899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26280" y="4572000"/>
            <a:ext cx="91440" cy="1078992"/>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45736" y="4709160"/>
            <a:ext cx="2761488" cy="310896"/>
          </a:xfrm>
          <a:prstGeom prst="rect">
            <a:avLst/>
          </a:prstGeom>
          <a:noFill/>
        </p:spPr>
        <p:txBody>
          <a:bodyPr wrap="none" lIns="45720" rIns="45720" anchor="t">
            <a:spAutoFit/>
          </a:bodyPr>
          <a:lstStyle/>
          <a:p>
            <a:pPr algn="l"/>
            <a:r>
              <a:rPr sz="1400" b="1">
                <a:solidFill>
                  <a:srgbClr val="10243E"/>
                </a:solidFill>
                <a:latin typeface="Aptos"/>
              </a:rPr>
              <a:t>Strict completeness</a:t>
            </a:r>
          </a:p>
        </p:txBody>
      </p:sp>
      <p:sp>
        <p:nvSpPr>
          <p:cNvPr id="47" name="TextBox 46"/>
          <p:cNvSpPr txBox="1"/>
          <p:nvPr/>
        </p:nvSpPr>
        <p:spPr>
          <a:xfrm>
            <a:off x="4745736" y="5102352"/>
            <a:ext cx="2761488" cy="457199"/>
          </a:xfrm>
          <a:prstGeom prst="rect">
            <a:avLst/>
          </a:prstGeom>
          <a:noFill/>
        </p:spPr>
        <p:txBody>
          <a:bodyPr wrap="none" lIns="45720" rIns="45720" anchor="t">
            <a:spAutoFit/>
          </a:bodyPr>
          <a:lstStyle/>
          <a:p>
            <a:pPr algn="l"/>
            <a:r>
              <a:rPr sz="1200" b="0">
                <a:solidFill>
                  <a:srgbClr val="17242C"/>
                </a:solidFill>
                <a:latin typeface="Aptos"/>
              </a:rPr>
              <a:t>A partial site set is never scored and a missing result is never zero</a:t>
            </a:r>
          </a:p>
        </p:txBody>
      </p:sp>
      <p:sp>
        <p:nvSpPr>
          <p:cNvPr id="48" name="Rounded Rectangle 47"/>
          <p:cNvSpPr/>
          <p:nvPr/>
        </p:nvSpPr>
        <p:spPr>
          <a:xfrm>
            <a:off x="8138160" y="4572000"/>
            <a:ext cx="3108960" cy="107899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38160" y="4572000"/>
            <a:ext cx="91440" cy="107899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57616" y="4709160"/>
            <a:ext cx="2761488" cy="310896"/>
          </a:xfrm>
          <a:prstGeom prst="rect">
            <a:avLst/>
          </a:prstGeom>
          <a:noFill/>
        </p:spPr>
        <p:txBody>
          <a:bodyPr wrap="none" lIns="45720" rIns="45720" anchor="t">
            <a:spAutoFit/>
          </a:bodyPr>
          <a:lstStyle/>
          <a:p>
            <a:pPr algn="l"/>
            <a:r>
              <a:rPr sz="1400" b="1">
                <a:solidFill>
                  <a:srgbClr val="10243E"/>
                </a:solidFill>
                <a:latin typeface="Aptos"/>
              </a:rPr>
              <a:t>Current search method</a:t>
            </a:r>
          </a:p>
        </p:txBody>
      </p:sp>
      <p:sp>
        <p:nvSpPr>
          <p:cNvPr id="51" name="TextBox 50"/>
          <p:cNvSpPr txBox="1"/>
          <p:nvPr/>
        </p:nvSpPr>
        <p:spPr>
          <a:xfrm>
            <a:off x="8357616" y="5102352"/>
            <a:ext cx="2761488" cy="457199"/>
          </a:xfrm>
          <a:prstGeom prst="rect">
            <a:avLst/>
          </a:prstGeom>
          <a:noFill/>
        </p:spPr>
        <p:txBody>
          <a:bodyPr wrap="none" lIns="45720" rIns="45720" anchor="t">
            <a:spAutoFit/>
          </a:bodyPr>
          <a:lstStyle/>
          <a:p>
            <a:pPr algn="l"/>
            <a:r>
              <a:rPr sz="1200" b="0">
                <a:solidFill>
                  <a:srgbClr val="17242C"/>
                </a:solidFill>
                <a:latin typeface="Aptos"/>
              </a:rPr>
              <a:t>Exhaustive 18-cell factorial; no Bayesian surrogate is needed yet</a:t>
            </a:r>
          </a:p>
        </p:txBody>
      </p:sp>
      <p:sp>
        <p:nvSpPr>
          <p:cNvPr id="52" name="TextBox 51"/>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Artifact audit: the recorded campaign is complete</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234440"/>
            <a:ext cx="251460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234440"/>
            <a:ext cx="91440" cy="1234440"/>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371600"/>
            <a:ext cx="2167128" cy="310896"/>
          </a:xfrm>
          <a:prstGeom prst="rect">
            <a:avLst/>
          </a:prstGeom>
          <a:noFill/>
        </p:spPr>
        <p:txBody>
          <a:bodyPr wrap="none" lIns="45720" rIns="45720" anchor="t">
            <a:spAutoFit/>
          </a:bodyPr>
          <a:lstStyle/>
          <a:p>
            <a:pPr algn="l"/>
            <a:r>
              <a:rPr sz="1400" b="1">
                <a:solidFill>
                  <a:srgbClr val="10243E"/>
                </a:solidFill>
                <a:latin typeface="Aptos"/>
              </a:rPr>
              <a:t>18 / 18</a:t>
            </a:r>
          </a:p>
        </p:txBody>
      </p:sp>
      <p:sp>
        <p:nvSpPr>
          <p:cNvPr id="8" name="TextBox 7"/>
          <p:cNvSpPr txBox="1"/>
          <p:nvPr/>
        </p:nvSpPr>
        <p:spPr>
          <a:xfrm>
            <a:off x="877824" y="1764792"/>
            <a:ext cx="2167128" cy="612648"/>
          </a:xfrm>
          <a:prstGeom prst="rect">
            <a:avLst/>
          </a:prstGeom>
          <a:noFill/>
        </p:spPr>
        <p:txBody>
          <a:bodyPr wrap="none" lIns="45720" rIns="45720" anchor="t">
            <a:spAutoFit/>
          </a:bodyPr>
          <a:lstStyle/>
          <a:p>
            <a:pPr algn="l"/>
            <a:r>
              <a:rPr sz="1300" b="0">
                <a:solidFill>
                  <a:srgbClr val="17242C"/>
                </a:solidFill>
                <a:latin typeface="Aptos"/>
              </a:rPr>
              <a:t>trials successful</a:t>
            </a:r>
          </a:p>
        </p:txBody>
      </p:sp>
      <p:sp>
        <p:nvSpPr>
          <p:cNvPr id="9" name="Rounded Rectangle 8"/>
          <p:cNvSpPr/>
          <p:nvPr/>
        </p:nvSpPr>
        <p:spPr>
          <a:xfrm>
            <a:off x="3529584" y="1234440"/>
            <a:ext cx="251460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29584" y="1234440"/>
            <a:ext cx="91440" cy="1234440"/>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49040" y="1371600"/>
            <a:ext cx="2167128" cy="310896"/>
          </a:xfrm>
          <a:prstGeom prst="rect">
            <a:avLst/>
          </a:prstGeom>
          <a:noFill/>
        </p:spPr>
        <p:txBody>
          <a:bodyPr wrap="none" lIns="45720" rIns="45720" anchor="t">
            <a:spAutoFit/>
          </a:bodyPr>
          <a:lstStyle/>
          <a:p>
            <a:pPr algn="l"/>
            <a:r>
              <a:rPr sz="1400" b="1">
                <a:solidFill>
                  <a:srgbClr val="10243E"/>
                </a:solidFill>
                <a:latin typeface="Aptos"/>
              </a:rPr>
              <a:t>576 / 576</a:t>
            </a:r>
          </a:p>
        </p:txBody>
      </p:sp>
      <p:sp>
        <p:nvSpPr>
          <p:cNvPr id="12" name="TextBox 11"/>
          <p:cNvSpPr txBox="1"/>
          <p:nvPr/>
        </p:nvSpPr>
        <p:spPr>
          <a:xfrm>
            <a:off x="3749040" y="1764792"/>
            <a:ext cx="2167128" cy="612648"/>
          </a:xfrm>
          <a:prstGeom prst="rect">
            <a:avLst/>
          </a:prstGeom>
          <a:noFill/>
        </p:spPr>
        <p:txBody>
          <a:bodyPr wrap="none" lIns="45720" rIns="45720" anchor="t">
            <a:spAutoFit/>
          </a:bodyPr>
          <a:lstStyle/>
          <a:p>
            <a:pPr algn="l"/>
            <a:r>
              <a:rPr sz="1300" b="0">
                <a:solidFill>
                  <a:srgbClr val="17242C"/>
                </a:solidFill>
                <a:latin typeface="Aptos"/>
              </a:rPr>
              <a:t>sub-runs successful</a:t>
            </a:r>
          </a:p>
        </p:txBody>
      </p:sp>
      <p:sp>
        <p:nvSpPr>
          <p:cNvPr id="13" name="Rounded Rectangle 12"/>
          <p:cNvSpPr/>
          <p:nvPr/>
        </p:nvSpPr>
        <p:spPr>
          <a:xfrm>
            <a:off x="6400800" y="1234440"/>
            <a:ext cx="251460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0" y="1234440"/>
            <a:ext cx="91440" cy="1234440"/>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0256" y="1371600"/>
            <a:ext cx="2167128" cy="310896"/>
          </a:xfrm>
          <a:prstGeom prst="rect">
            <a:avLst/>
          </a:prstGeom>
          <a:noFill/>
        </p:spPr>
        <p:txBody>
          <a:bodyPr wrap="none" lIns="45720" rIns="45720" anchor="t">
            <a:spAutoFit/>
          </a:bodyPr>
          <a:lstStyle/>
          <a:p>
            <a:pPr algn="l"/>
            <a:r>
              <a:rPr sz="1400" b="1">
                <a:solidFill>
                  <a:srgbClr val="10243E"/>
                </a:solidFill>
                <a:latin typeface="Aptos"/>
              </a:rPr>
              <a:t>576</a:t>
            </a:r>
          </a:p>
        </p:txBody>
      </p:sp>
      <p:sp>
        <p:nvSpPr>
          <p:cNvPr id="16" name="TextBox 15"/>
          <p:cNvSpPr txBox="1"/>
          <p:nvPr/>
        </p:nvSpPr>
        <p:spPr>
          <a:xfrm>
            <a:off x="6620256" y="1764792"/>
            <a:ext cx="2167128" cy="612648"/>
          </a:xfrm>
          <a:prstGeom prst="rect">
            <a:avLst/>
          </a:prstGeom>
          <a:noFill/>
        </p:spPr>
        <p:txBody>
          <a:bodyPr wrap="none" lIns="45720" rIns="45720" anchor="t">
            <a:spAutoFit/>
          </a:bodyPr>
          <a:lstStyle/>
          <a:p>
            <a:pPr algn="l"/>
            <a:r>
              <a:rPr sz="1300" b="0">
                <a:solidFill>
                  <a:srgbClr val="17242C"/>
                </a:solidFill>
                <a:latin typeface="Aptos"/>
              </a:rPr>
              <a:t>macros + hits + markers + logs</a:t>
            </a:r>
          </a:p>
        </p:txBody>
      </p:sp>
      <p:sp>
        <p:nvSpPr>
          <p:cNvPr id="17" name="Rounded Rectangle 16"/>
          <p:cNvSpPr/>
          <p:nvPr/>
        </p:nvSpPr>
        <p:spPr>
          <a:xfrm>
            <a:off x="9272016" y="1234440"/>
            <a:ext cx="2514600" cy="12344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72016" y="1234440"/>
            <a:ext cx="91440" cy="123444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91472" y="1371600"/>
            <a:ext cx="2167128" cy="310896"/>
          </a:xfrm>
          <a:prstGeom prst="rect">
            <a:avLst/>
          </a:prstGeom>
          <a:noFill/>
        </p:spPr>
        <p:txBody>
          <a:bodyPr wrap="none" lIns="45720" rIns="45720" anchor="t">
            <a:spAutoFit/>
          </a:bodyPr>
          <a:lstStyle/>
          <a:p>
            <a:pPr algn="l"/>
            <a:r>
              <a:rPr sz="1400" b="1">
                <a:solidFill>
                  <a:srgbClr val="10243E"/>
                </a:solidFill>
                <a:latin typeface="Aptos"/>
              </a:rPr>
              <a:t>0</a:t>
            </a:r>
          </a:p>
        </p:txBody>
      </p:sp>
      <p:sp>
        <p:nvSpPr>
          <p:cNvPr id="20" name="TextBox 19"/>
          <p:cNvSpPr txBox="1"/>
          <p:nvPr/>
        </p:nvSpPr>
        <p:spPr>
          <a:xfrm>
            <a:off x="9491472" y="1764792"/>
            <a:ext cx="2167128" cy="612648"/>
          </a:xfrm>
          <a:prstGeom prst="rect">
            <a:avLst/>
          </a:prstGeom>
          <a:noFill/>
        </p:spPr>
        <p:txBody>
          <a:bodyPr wrap="none" lIns="45720" rIns="45720" anchor="t">
            <a:spAutoFit/>
          </a:bodyPr>
          <a:lstStyle/>
          <a:p>
            <a:pPr algn="l"/>
            <a:r>
              <a:rPr sz="1300" b="0">
                <a:solidFill>
                  <a:srgbClr val="17242C"/>
                </a:solidFill>
                <a:latin typeface="Aptos"/>
              </a:rPr>
              <a:t>score mismatches</a:t>
            </a:r>
          </a:p>
        </p:txBody>
      </p:sp>
      <p:sp>
        <p:nvSpPr>
          <p:cNvPr id="21" name="TextBox 20"/>
          <p:cNvSpPr txBox="1"/>
          <p:nvPr/>
        </p:nvSpPr>
        <p:spPr>
          <a:xfrm>
            <a:off x="822960" y="2880360"/>
            <a:ext cx="5257800" cy="2560320"/>
          </a:xfrm>
          <a:prstGeom prst="rect">
            <a:avLst/>
          </a:prstGeom>
          <a:noFill/>
        </p:spPr>
        <p:txBody>
          <a:bodyPr wrap="square" lIns="45720" rIns="27432">
            <a:spAutoFit/>
          </a:bodyPr>
          <a:lstStyle/>
          <a:p>
            <a:pPr>
              <a:spcAft>
                <a:spcPts val="800"/>
              </a:spcAft>
              <a:defRPr sz="1500">
                <a:solidFill>
                  <a:srgbClr val="17242C"/>
                </a:solidFill>
                <a:latin typeface="Aptos"/>
              </a:defRPr>
            </a:pPr>
            <a:r>
              <a:t>•  All candidates use the same ordered scenario and seed map</a:t>
            </a:r>
          </a:p>
          <a:p>
            <a:pPr>
              <a:spcAft>
                <a:spcPts val="800"/>
              </a:spcAft>
              <a:defRPr sz="1500">
                <a:solidFill>
                  <a:srgbClr val="17242C"/>
                </a:solidFill>
                <a:latin typeface="Aptos"/>
              </a:defRPr>
            </a:pPr>
            <a:r>
              <a:t>•  Runtime logs match the intended substrate and Geant4 density</a:t>
            </a:r>
          </a:p>
          <a:p>
            <a:pPr>
              <a:spcAft>
                <a:spcPts val="800"/>
              </a:spcAft>
              <a:defRPr sz="1500">
                <a:solidFill>
                  <a:srgbClr val="17242C"/>
                </a:solidFill>
                <a:latin typeface="Aptos"/>
              </a:defRPr>
            </a:pPr>
            <a:r>
              <a:t>•  Generated lattice files preserve every native field except derived vL/vT</a:t>
            </a:r>
          </a:p>
          <a:p>
            <a:pPr>
              <a:spcAft>
                <a:spcPts val="800"/>
              </a:spcAft>
              <a:defRPr sz="1500">
                <a:solidFill>
                  <a:srgbClr val="17242C"/>
                </a:solidFill>
                <a:latin typeface="Aptos"/>
              </a:defRPr>
            </a:pPr>
            <a:r>
              <a:t>•  Independent rescoring reproduces every SQLite total</a:t>
            </a:r>
          </a:p>
        </p:txBody>
      </p:sp>
      <p:sp>
        <p:nvSpPr>
          <p:cNvPr id="22" name="TextBox 21"/>
          <p:cNvSpPr txBox="1"/>
          <p:nvPr/>
        </p:nvSpPr>
        <p:spPr>
          <a:xfrm>
            <a:off x="6309360" y="2880360"/>
            <a:ext cx="5074920" cy="2560320"/>
          </a:xfrm>
          <a:prstGeom prst="rect">
            <a:avLst/>
          </a:prstGeom>
          <a:noFill/>
        </p:spPr>
        <p:txBody>
          <a:bodyPr wrap="square" lIns="45720" rIns="27432">
            <a:spAutoFit/>
          </a:bodyPr>
          <a:lstStyle/>
          <a:p>
            <a:pPr>
              <a:spcAft>
                <a:spcPts val="800"/>
              </a:spcAft>
              <a:defRPr sz="1500">
                <a:solidFill>
                  <a:srgbClr val="17242C"/>
                </a:solidFill>
                <a:latin typeface="Aptos"/>
              </a:defRPr>
            </a:pPr>
            <a:r>
              <a:t>•  CSV rebuilt byte-for-byte from the current single-campaign ledger</a:t>
            </a:r>
          </a:p>
          <a:p>
            <a:pPr>
              <a:spcAft>
                <a:spcPts val="800"/>
              </a:spcAft>
              <a:defRPr sz="1500">
                <a:solidFill>
                  <a:srgbClr val="17242C"/>
                </a:solidFill>
                <a:latin typeface="Aptos"/>
              </a:defRPr>
            </a:pPr>
            <a:r>
              <a:t>•  Each candidate: 32 × 125,000 = 4,000,000 primaries</a:t>
            </a:r>
          </a:p>
          <a:p>
            <a:pPr>
              <a:spcAft>
                <a:spcPts val="800"/>
              </a:spcAft>
              <a:defRPr sz="1500">
                <a:solidFill>
                  <a:srgbClr val="17242C"/>
                </a:solidFill>
                <a:latin typeface="Aptos"/>
              </a:defRPr>
            </a:pPr>
            <a:r>
              <a:t>•  Total executed: 72,000,000 primaries</a:t>
            </a:r>
          </a:p>
          <a:p>
            <a:pPr>
              <a:spcAft>
                <a:spcPts val="800"/>
              </a:spcAft>
              <a:defRPr sz="1500">
                <a:solidFill>
                  <a:srgbClr val="17242C"/>
                </a:solidFill>
                <a:latin typeface="Aptos"/>
              </a:defRPr>
            </a:pPr>
            <a:r>
              <a:t>•  Correction: the database contains 576 sub-runs, not 288</a:t>
            </a:r>
          </a:p>
        </p:txBody>
      </p:sp>
      <p:sp>
        <p:nvSpPr>
          <p:cNvPr id="23" name="TextBox 22"/>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Audit details: STAGE3_FACTORIAL_V1_RESULTS_REVIEW.md</a:t>
            </a:r>
          </a:p>
        </p:txBody>
      </p:sp>
      <p:sp>
        <p:nvSpPr>
          <p:cNvPr id="24" name="TextBox 23"/>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Nominal ranking</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00784" y="749808"/>
            <a:ext cx="9784080" cy="292608"/>
          </a:xfrm>
          <a:prstGeom prst="rect">
            <a:avLst/>
          </a:prstGeom>
          <a:noFill/>
        </p:spPr>
        <p:txBody>
          <a:bodyPr wrap="none" lIns="45720" rIns="45720" anchor="t">
            <a:spAutoFit/>
          </a:bodyPr>
          <a:lstStyle/>
          <a:p>
            <a:pPr algn="l"/>
            <a:r>
              <a:rPr sz="1050" b="0">
                <a:solidFill>
                  <a:srgbClr val="526573"/>
                </a:solidFill>
                <a:latin typeface="Aptos"/>
              </a:rPr>
              <a:t>Green bars use Cu; gray bars use Au</a:t>
            </a:r>
          </a:p>
        </p:txBody>
      </p:sp>
      <p:pic>
        <p:nvPicPr>
          <p:cNvPr id="6" name="Picture 5" descr="ranking.png"/>
          <p:cNvPicPr>
            <a:picLocks noChangeAspect="1"/>
          </p:cNvPicPr>
          <p:nvPr/>
        </p:nvPicPr>
        <p:blipFill>
          <a:blip r:embed="rId2"/>
          <a:stretch>
            <a:fillRect/>
          </a:stretch>
        </p:blipFill>
        <p:spPr>
          <a:xfrm>
            <a:off x="594360" y="987552"/>
            <a:ext cx="11018520" cy="5413248"/>
          </a:xfrm>
          <a:prstGeom prst="rect">
            <a:avLst/>
          </a:prstGeom>
        </p:spPr>
      </p:pic>
      <p:sp>
        <p:nvSpPr>
          <p:cNvPr id="7" name="TextBox 6"/>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Percentages are relative to Si/Nb/Cu. The printed Poisson z values are not used as confidence intervals here.</a:t>
            </a:r>
          </a:p>
        </p:txBody>
      </p:sp>
      <p:sp>
        <p:nvSpPr>
          <p:cNvPr id="8" name="TextBox 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Factor-level interpretation</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rginal_effects.png"/>
          <p:cNvPicPr>
            <a:picLocks noChangeAspect="1"/>
          </p:cNvPicPr>
          <p:nvPr/>
        </p:nvPicPr>
        <p:blipFill>
          <a:blip r:embed="rId2"/>
          <a:stretch>
            <a:fillRect/>
          </a:stretch>
        </p:blipFill>
        <p:spPr>
          <a:xfrm>
            <a:off x="502920" y="1060704"/>
            <a:ext cx="11155680" cy="3547872"/>
          </a:xfrm>
          <a:prstGeom prst="rect">
            <a:avLst/>
          </a:prstGeom>
        </p:spPr>
      </p:pic>
      <p:sp>
        <p:nvSpPr>
          <p:cNvPr id="6" name="Rounded Rectangle 5"/>
          <p:cNvSpPr/>
          <p:nvPr/>
        </p:nvSpPr>
        <p:spPr>
          <a:xfrm>
            <a:off x="685800" y="4892040"/>
            <a:ext cx="3383280" cy="10515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4892040"/>
            <a:ext cx="91440" cy="1051560"/>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5029200"/>
            <a:ext cx="3035808" cy="310896"/>
          </a:xfrm>
          <a:prstGeom prst="rect">
            <a:avLst/>
          </a:prstGeom>
          <a:noFill/>
        </p:spPr>
        <p:txBody>
          <a:bodyPr wrap="none" lIns="45720" rIns="45720" anchor="t">
            <a:spAutoFit/>
          </a:bodyPr>
          <a:lstStyle/>
          <a:p>
            <a:pPr algn="l"/>
            <a:r>
              <a:rPr sz="1400" b="1">
                <a:solidFill>
                  <a:srgbClr val="10243E"/>
                </a:solidFill>
                <a:latin typeface="Aptos"/>
              </a:rPr>
              <a:t>Strongest robust signal</a:t>
            </a:r>
          </a:p>
        </p:txBody>
      </p:sp>
      <p:sp>
        <p:nvSpPr>
          <p:cNvPr id="9" name="TextBox 8"/>
          <p:cNvSpPr txBox="1"/>
          <p:nvPr/>
        </p:nvSpPr>
        <p:spPr>
          <a:xfrm>
            <a:off x="905256" y="5422392"/>
            <a:ext cx="3035808" cy="429767"/>
          </a:xfrm>
          <a:prstGeom prst="rect">
            <a:avLst/>
          </a:prstGeom>
          <a:noFill/>
        </p:spPr>
        <p:txBody>
          <a:bodyPr wrap="none" lIns="45720" rIns="45720" anchor="t">
            <a:spAutoFit/>
          </a:bodyPr>
          <a:lstStyle/>
          <a:p>
            <a:pPr algn="l"/>
            <a:r>
              <a:rPr sz="1250" b="0">
                <a:solidFill>
                  <a:srgbClr val="17242C"/>
                </a:solidFill>
                <a:latin typeface="Aptos"/>
              </a:rPr>
              <a:t>Au is worse than Cu in all 9 matched comparisons; mean yield is 2.14× higher.</a:t>
            </a:r>
          </a:p>
        </p:txBody>
      </p:sp>
      <p:sp>
        <p:nvSpPr>
          <p:cNvPr id="10" name="Rounded Rectangle 9"/>
          <p:cNvSpPr/>
          <p:nvPr/>
        </p:nvSpPr>
        <p:spPr>
          <a:xfrm>
            <a:off x="4407408" y="4892040"/>
            <a:ext cx="3383280" cy="10515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7408" y="4892040"/>
            <a:ext cx="91440" cy="1051560"/>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5029200"/>
            <a:ext cx="3035808" cy="310896"/>
          </a:xfrm>
          <a:prstGeom prst="rect">
            <a:avLst/>
          </a:prstGeom>
          <a:noFill/>
        </p:spPr>
        <p:txBody>
          <a:bodyPr wrap="none" lIns="45720" rIns="45720" anchor="t">
            <a:spAutoFit/>
          </a:bodyPr>
          <a:lstStyle/>
          <a:p>
            <a:pPr algn="l"/>
            <a:r>
              <a:rPr sz="1400" b="1">
                <a:solidFill>
                  <a:srgbClr val="10243E"/>
                </a:solidFill>
                <a:latin typeface="Aptos"/>
              </a:rPr>
              <a:t>Substrate screen</a:t>
            </a:r>
          </a:p>
        </p:txBody>
      </p:sp>
      <p:sp>
        <p:nvSpPr>
          <p:cNvPr id="13" name="TextBox 12"/>
          <p:cNvSpPr txBox="1"/>
          <p:nvPr/>
        </p:nvSpPr>
        <p:spPr>
          <a:xfrm>
            <a:off x="4626864" y="5422392"/>
            <a:ext cx="3035808" cy="429767"/>
          </a:xfrm>
          <a:prstGeom prst="rect">
            <a:avLst/>
          </a:prstGeom>
          <a:noFill/>
        </p:spPr>
        <p:txBody>
          <a:bodyPr wrap="none" lIns="45720" rIns="45720" anchor="t">
            <a:spAutoFit/>
          </a:bodyPr>
          <a:lstStyle/>
          <a:p>
            <a:pPr algn="l"/>
            <a:r>
              <a:rPr sz="1250" b="0">
                <a:solidFill>
                  <a:srgbClr val="17242C"/>
                </a:solidFill>
                <a:latin typeface="Aptos"/>
              </a:rPr>
              <a:t>Ge and GaAs beat Si in all 6 matched film combinations.</a:t>
            </a:r>
          </a:p>
        </p:txBody>
      </p:sp>
      <p:sp>
        <p:nvSpPr>
          <p:cNvPr id="14" name="Rounded Rectangle 13"/>
          <p:cNvSpPr/>
          <p:nvPr/>
        </p:nvSpPr>
        <p:spPr>
          <a:xfrm>
            <a:off x="8129016" y="4892040"/>
            <a:ext cx="3383280" cy="10515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29016" y="4892040"/>
            <a:ext cx="91440" cy="105156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5029200"/>
            <a:ext cx="3035808" cy="310896"/>
          </a:xfrm>
          <a:prstGeom prst="rect">
            <a:avLst/>
          </a:prstGeom>
          <a:noFill/>
        </p:spPr>
        <p:txBody>
          <a:bodyPr wrap="none" lIns="45720" rIns="45720" anchor="t">
            <a:spAutoFit/>
          </a:bodyPr>
          <a:lstStyle/>
          <a:p>
            <a:pPr algn="l"/>
            <a:r>
              <a:rPr sz="1400" b="1">
                <a:solidFill>
                  <a:srgbClr val="10243E"/>
                </a:solidFill>
                <a:latin typeface="Aptos"/>
              </a:rPr>
              <a:t>Causal caution</a:t>
            </a:r>
          </a:p>
        </p:txBody>
      </p:sp>
      <p:sp>
        <p:nvSpPr>
          <p:cNvPr id="17" name="TextBox 16"/>
          <p:cNvSpPr txBox="1"/>
          <p:nvPr/>
        </p:nvSpPr>
        <p:spPr>
          <a:xfrm>
            <a:off x="8348472" y="5422392"/>
            <a:ext cx="3035808" cy="429767"/>
          </a:xfrm>
          <a:prstGeom prst="rect">
            <a:avLst/>
          </a:prstGeom>
          <a:noFill/>
        </p:spPr>
        <p:txBody>
          <a:bodyPr wrap="none" lIns="45720" rIns="45720" anchor="t">
            <a:spAutoFit/>
          </a:bodyPr>
          <a:lstStyle/>
          <a:p>
            <a:pPr algn="l"/>
            <a:r>
              <a:rPr sz="1250" b="0">
                <a:solidFill>
                  <a:srgbClr val="17242C"/>
                </a:solidFill>
                <a:latin typeface="Aptos"/>
              </a:rPr>
              <a:t>Each material changes several linked properties; this is not scalar-parameter sensitivity analysis.</a:t>
            </a:r>
          </a:p>
        </p:txBody>
      </p:sp>
      <p:sp>
        <p:nvSpPr>
          <p:cNvPr id="18" name="TextBox 1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The top-film effect is context dependent</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nteractions.png"/>
          <p:cNvPicPr>
            <a:picLocks noChangeAspect="1"/>
          </p:cNvPicPr>
          <p:nvPr/>
        </p:nvPicPr>
        <p:blipFill>
          <a:blip r:embed="rId2"/>
          <a:stretch>
            <a:fillRect/>
          </a:stretch>
        </p:blipFill>
        <p:spPr>
          <a:xfrm>
            <a:off x="566928" y="1115568"/>
            <a:ext cx="10972800" cy="3703320"/>
          </a:xfrm>
          <a:prstGeom prst="rect">
            <a:avLst/>
          </a:prstGeom>
        </p:spPr>
      </p:pic>
      <p:sp>
        <p:nvSpPr>
          <p:cNvPr id="6" name="TextBox 5"/>
          <p:cNvSpPr txBox="1"/>
          <p:nvPr/>
        </p:nvSpPr>
        <p:spPr>
          <a:xfrm>
            <a:off x="868680" y="5138928"/>
            <a:ext cx="10424160" cy="548640"/>
          </a:xfrm>
          <a:prstGeom prst="rect">
            <a:avLst/>
          </a:prstGeom>
          <a:noFill/>
        </p:spPr>
        <p:txBody>
          <a:bodyPr wrap="none" lIns="45720" rIns="45720" anchor="t">
            <a:spAutoFit/>
          </a:bodyPr>
          <a:lstStyle/>
          <a:p>
            <a:pPr algn="ctr"/>
            <a:r>
              <a:rPr sz="1700" b="1">
                <a:solidFill>
                  <a:srgbClr val="10243E"/>
                </a:solidFill>
                <a:latin typeface="Aptos"/>
              </a:rPr>
              <a:t>Nb is best with Cu for all three substrates; Ti is best with Au for all three. A single global “best top film” does not exist in this model.</a:t>
            </a:r>
          </a:p>
        </p:txBody>
      </p:sp>
      <p:sp>
        <p:nvSpPr>
          <p:cNvPr id="7" name="TextBox 6"/>
          <p:cNvSpPr txBox="1"/>
          <p:nvPr/>
        </p:nvSpPr>
        <p:spPr>
          <a:xfrm>
            <a:off x="1097280" y="5815584"/>
            <a:ext cx="9966960" cy="310896"/>
          </a:xfrm>
          <a:prstGeom prst="rect">
            <a:avLst/>
          </a:prstGeom>
          <a:noFill/>
        </p:spPr>
        <p:txBody>
          <a:bodyPr wrap="none" lIns="45720" rIns="45720" anchor="t">
            <a:spAutoFit/>
          </a:bodyPr>
          <a:lstStyle/>
          <a:p>
            <a:pPr algn="ctr"/>
            <a:r>
              <a:rPr sz="1300" b="0">
                <a:solidFill>
                  <a:srgbClr val="526573"/>
                </a:solidFill>
                <a:latin typeface="Aptos"/>
              </a:rPr>
              <a:t>This interaction can arise from gap, lifetime, sound speed, density, and interface absorption moving together.</a:t>
            </a:r>
          </a:p>
        </p:txBody>
      </p:sp>
      <p:sp>
        <p:nvSpPr>
          <p:cNvPr id="8" name="TextBox 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Why 16 → 32 → 64 position convergence cannot be skipped</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patial_dominance.png"/>
          <p:cNvPicPr>
            <a:picLocks noChangeAspect="1"/>
          </p:cNvPicPr>
          <p:nvPr/>
        </p:nvPicPr>
        <p:blipFill>
          <a:blip r:embed="rId2"/>
          <a:stretch>
            <a:fillRect/>
          </a:stretch>
        </p:blipFill>
        <p:spPr>
          <a:xfrm>
            <a:off x="502920" y="1042415"/>
            <a:ext cx="11155680" cy="4389120"/>
          </a:xfrm>
          <a:prstGeom prst="rect">
            <a:avLst/>
          </a:prstGeom>
        </p:spPr>
      </p:pic>
      <p:sp>
        <p:nvSpPr>
          <p:cNvPr id="6" name="Rounded Rectangle 5"/>
          <p:cNvSpPr/>
          <p:nvPr/>
        </p:nvSpPr>
        <p:spPr>
          <a:xfrm>
            <a:off x="822960" y="5559552"/>
            <a:ext cx="3337560" cy="71323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5559552"/>
            <a:ext cx="91440" cy="71323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5696712"/>
            <a:ext cx="2990088" cy="310896"/>
          </a:xfrm>
          <a:prstGeom prst="rect">
            <a:avLst/>
          </a:prstGeom>
          <a:noFill/>
        </p:spPr>
        <p:txBody>
          <a:bodyPr wrap="none" lIns="45720" rIns="45720" anchor="t">
            <a:spAutoFit/>
          </a:bodyPr>
          <a:lstStyle/>
          <a:p>
            <a:pPr algn="l"/>
            <a:r>
              <a:rPr sz="1400" b="1">
                <a:solidFill>
                  <a:srgbClr val="10243E"/>
                </a:solidFill>
                <a:latin typeface="Aptos"/>
              </a:rPr>
              <a:t>Position 11</a:t>
            </a:r>
          </a:p>
        </p:txBody>
      </p:sp>
      <p:sp>
        <p:nvSpPr>
          <p:cNvPr id="9" name="TextBox 8"/>
          <p:cNvSpPr txBox="1"/>
          <p:nvPr/>
        </p:nvSpPr>
        <p:spPr>
          <a:xfrm>
            <a:off x="1042416" y="6089904"/>
            <a:ext cx="2990088" cy="91439"/>
          </a:xfrm>
          <a:prstGeom prst="rect">
            <a:avLst/>
          </a:prstGeom>
          <a:noFill/>
        </p:spPr>
        <p:txBody>
          <a:bodyPr wrap="none" lIns="45720" rIns="45720" anchor="t">
            <a:spAutoFit/>
          </a:bodyPr>
          <a:lstStyle/>
          <a:p>
            <a:pPr algn="l"/>
            <a:r>
              <a:rPr sz="1150" b="0">
                <a:solidFill>
                  <a:srgbClr val="17242C"/>
                </a:solidFill>
                <a:latin typeface="Aptos"/>
              </a:rPr>
              <a:t>782 / 1578 baseline QPs = 49.6%</a:t>
            </a:r>
          </a:p>
        </p:txBody>
      </p:sp>
      <p:sp>
        <p:nvSpPr>
          <p:cNvPr id="10" name="Rounded Rectangle 9"/>
          <p:cNvSpPr/>
          <p:nvPr/>
        </p:nvSpPr>
        <p:spPr>
          <a:xfrm>
            <a:off x="4434840" y="5559552"/>
            <a:ext cx="3337560" cy="71323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5559552"/>
            <a:ext cx="91440" cy="713232"/>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54296" y="5696712"/>
            <a:ext cx="2990088" cy="310896"/>
          </a:xfrm>
          <a:prstGeom prst="rect">
            <a:avLst/>
          </a:prstGeom>
          <a:noFill/>
        </p:spPr>
        <p:txBody>
          <a:bodyPr wrap="none" lIns="45720" rIns="45720" anchor="t">
            <a:spAutoFit/>
          </a:bodyPr>
          <a:lstStyle/>
          <a:p>
            <a:pPr algn="l"/>
            <a:r>
              <a:rPr sz="1400" b="1">
                <a:solidFill>
                  <a:srgbClr val="10243E"/>
                </a:solidFill>
                <a:latin typeface="Aptos"/>
              </a:rPr>
              <a:t>Winner gap</a:t>
            </a:r>
          </a:p>
        </p:txBody>
      </p:sp>
      <p:sp>
        <p:nvSpPr>
          <p:cNvPr id="13" name="TextBox 12"/>
          <p:cNvSpPr txBox="1"/>
          <p:nvPr/>
        </p:nvSpPr>
        <p:spPr>
          <a:xfrm>
            <a:off x="4654296" y="6089904"/>
            <a:ext cx="2990088" cy="91439"/>
          </a:xfrm>
          <a:prstGeom prst="rect">
            <a:avLst/>
          </a:prstGeom>
          <a:noFill/>
        </p:spPr>
        <p:txBody>
          <a:bodyPr wrap="none" lIns="45720" rIns="45720" anchor="t">
            <a:spAutoFit/>
          </a:bodyPr>
          <a:lstStyle/>
          <a:p>
            <a:pPr algn="l"/>
            <a:r>
              <a:rPr sz="1150" b="0">
                <a:solidFill>
                  <a:srgbClr val="17242C"/>
                </a:solidFill>
                <a:latin typeface="Aptos"/>
              </a:rPr>
              <a:t>GaAs/Nb/Cu beats Ge/Nb/Cu by only 18 QPs</a:t>
            </a:r>
          </a:p>
        </p:txBody>
      </p:sp>
      <p:sp>
        <p:nvSpPr>
          <p:cNvPr id="14" name="Rounded Rectangle 13"/>
          <p:cNvSpPr/>
          <p:nvPr/>
        </p:nvSpPr>
        <p:spPr>
          <a:xfrm>
            <a:off x="8046720" y="5559552"/>
            <a:ext cx="3337560" cy="713232"/>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5559552"/>
            <a:ext cx="91440" cy="713232"/>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6" y="5696712"/>
            <a:ext cx="2990088" cy="310896"/>
          </a:xfrm>
          <a:prstGeom prst="rect">
            <a:avLst/>
          </a:prstGeom>
          <a:noFill/>
        </p:spPr>
        <p:txBody>
          <a:bodyPr wrap="none" lIns="45720" rIns="45720" anchor="t">
            <a:spAutoFit/>
          </a:bodyPr>
          <a:lstStyle/>
          <a:p>
            <a:pPr algn="l"/>
            <a:r>
              <a:rPr sz="1400" b="1">
                <a:solidFill>
                  <a:srgbClr val="10243E"/>
                </a:solidFill>
                <a:latin typeface="Aptos"/>
              </a:rPr>
              <a:t>Decision</a:t>
            </a:r>
          </a:p>
        </p:txBody>
      </p:sp>
      <p:sp>
        <p:nvSpPr>
          <p:cNvPr id="17" name="TextBox 16"/>
          <p:cNvSpPr txBox="1"/>
          <p:nvPr/>
        </p:nvSpPr>
        <p:spPr>
          <a:xfrm>
            <a:off x="8266176" y="6089904"/>
            <a:ext cx="2990088" cy="91439"/>
          </a:xfrm>
          <a:prstGeom prst="rect">
            <a:avLst/>
          </a:prstGeom>
          <a:noFill/>
        </p:spPr>
        <p:txBody>
          <a:bodyPr wrap="none" lIns="45720" rIns="45720" anchor="t">
            <a:spAutoFit/>
          </a:bodyPr>
          <a:lstStyle/>
          <a:p>
            <a:pPr algn="l"/>
            <a:r>
              <a:rPr sz="1150" b="0">
                <a:solidFill>
                  <a:srgbClr val="17242C"/>
                </a:solidFill>
                <a:latin typeface="Aptos"/>
              </a:rPr>
              <a:t>Treat GaAs and Ge as tied until nested convergence</a:t>
            </a:r>
          </a:p>
        </p:txBody>
      </p:sp>
      <p:sp>
        <p:nvSpPr>
          <p:cNvPr id="18" name="TextBox 1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Implementation review: what must change before new campaigns</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143000"/>
            <a:ext cx="5440680" cy="19202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43000"/>
            <a:ext cx="91440" cy="19202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80160"/>
            <a:ext cx="5093208" cy="310896"/>
          </a:xfrm>
          <a:prstGeom prst="rect">
            <a:avLst/>
          </a:prstGeom>
          <a:noFill/>
        </p:spPr>
        <p:txBody>
          <a:bodyPr wrap="none" lIns="45720" rIns="45720" anchor="t">
            <a:spAutoFit/>
          </a:bodyPr>
          <a:lstStyle/>
          <a:p>
            <a:pPr algn="l"/>
            <a:r>
              <a:rPr sz="1400" b="1">
                <a:solidFill>
                  <a:srgbClr val="10243E"/>
                </a:solidFill>
                <a:latin typeface="Aptos"/>
              </a:rPr>
              <a:t>BLOCKER 1 — incomplete cache identity</a:t>
            </a:r>
          </a:p>
        </p:txBody>
      </p:sp>
      <p:sp>
        <p:nvSpPr>
          <p:cNvPr id="8" name="TextBox 7"/>
          <p:cNvSpPr txBox="1"/>
          <p:nvPr/>
        </p:nvSpPr>
        <p:spPr>
          <a:xfrm>
            <a:off x="877824" y="1673352"/>
            <a:ext cx="5093208" cy="1298448"/>
          </a:xfrm>
          <a:prstGeom prst="rect">
            <a:avLst/>
          </a:prstGeom>
          <a:noFill/>
        </p:spPr>
        <p:txBody>
          <a:bodyPr wrap="none" lIns="45720" rIns="45720" anchor="t">
            <a:spAutoFit/>
          </a:bodyPr>
          <a:lstStyle/>
          <a:p>
            <a:pPr algn="l"/>
            <a:r>
              <a:rPr sz="1400" b="0">
                <a:solidFill>
                  <a:srgbClr val="17242C"/>
                </a:solidFill>
                <a:latin typeface="Aptos"/>
              </a:rPr>
              <a:t>The cache omits the catalog, interface code, macro template, and several resolved film values. Changing Ta lifetime 0.0227 → 0.040 ns changes the macro but not the current cache payload. Lifetime brackets can silently return nominal results.</a:t>
            </a:r>
          </a:p>
        </p:txBody>
      </p:sp>
      <p:sp>
        <p:nvSpPr>
          <p:cNvPr id="9" name="Rounded Rectangle 8"/>
          <p:cNvSpPr/>
          <p:nvPr/>
        </p:nvSpPr>
        <p:spPr>
          <a:xfrm>
            <a:off x="6236208" y="1143000"/>
            <a:ext cx="5285232" cy="192024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36208" y="1143000"/>
            <a:ext cx="91440" cy="192024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1280160"/>
            <a:ext cx="4937760" cy="310896"/>
          </a:xfrm>
          <a:prstGeom prst="rect">
            <a:avLst/>
          </a:prstGeom>
          <a:noFill/>
        </p:spPr>
        <p:txBody>
          <a:bodyPr wrap="none" lIns="45720" rIns="45720" anchor="t">
            <a:spAutoFit/>
          </a:bodyPr>
          <a:lstStyle/>
          <a:p>
            <a:pPr algn="l"/>
            <a:r>
              <a:rPr sz="1400" b="1">
                <a:solidFill>
                  <a:srgbClr val="10243E"/>
                </a:solidFill>
                <a:latin typeface="Aptos"/>
              </a:rPr>
              <a:t>BLOCKER 2 — unfiltered reporting</a:t>
            </a:r>
          </a:p>
        </p:txBody>
      </p:sp>
      <p:sp>
        <p:nvSpPr>
          <p:cNvPr id="12" name="TextBox 11"/>
          <p:cNvSpPr txBox="1"/>
          <p:nvPr/>
        </p:nvSpPr>
        <p:spPr>
          <a:xfrm>
            <a:off x="6455664" y="1673352"/>
            <a:ext cx="4937760" cy="1298448"/>
          </a:xfrm>
          <a:prstGeom prst="rect">
            <a:avLst/>
          </a:prstGeom>
          <a:noFill/>
        </p:spPr>
        <p:txBody>
          <a:bodyPr wrap="none" lIns="45720" rIns="45720" anchor="t">
            <a:spAutoFit/>
          </a:bodyPr>
          <a:lstStyle/>
          <a:p>
            <a:pPr algn="l"/>
            <a:r>
              <a:rPr sz="1400" b="0">
                <a:solidFill>
                  <a:srgbClr val="17242C"/>
                </a:solidFill>
                <a:latin typeface="Aptos"/>
              </a:rPr>
              <a:t>stage3_report.py reads every observation in the ledger. Once 32/64-position or lifetime-bracket trials are added, one CSV can mix incompatible contracts unless campaign/contract/fidelity filters are required.</a:t>
            </a:r>
          </a:p>
        </p:txBody>
      </p:sp>
      <p:sp>
        <p:nvSpPr>
          <p:cNvPr id="13" name="Rounded Rectangle 12"/>
          <p:cNvSpPr/>
          <p:nvPr/>
        </p:nvSpPr>
        <p:spPr>
          <a:xfrm>
            <a:off x="658368" y="3364992"/>
            <a:ext cx="3429000" cy="19659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364992"/>
            <a:ext cx="91440" cy="196596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3502152"/>
            <a:ext cx="3081528" cy="310896"/>
          </a:xfrm>
          <a:prstGeom prst="rect">
            <a:avLst/>
          </a:prstGeom>
          <a:noFill/>
        </p:spPr>
        <p:txBody>
          <a:bodyPr wrap="none" lIns="45720" rIns="45720" anchor="t">
            <a:spAutoFit/>
          </a:bodyPr>
          <a:lstStyle/>
          <a:p>
            <a:pPr algn="l"/>
            <a:r>
              <a:rPr sz="1400" b="1">
                <a:solidFill>
                  <a:srgbClr val="10243E"/>
                </a:solidFill>
                <a:latin typeface="Aptos"/>
              </a:rPr>
              <a:t>Model caveat</a:t>
            </a:r>
          </a:p>
        </p:txBody>
      </p:sp>
      <p:sp>
        <p:nvSpPr>
          <p:cNvPr id="16" name="TextBox 15"/>
          <p:cNvSpPr txBox="1"/>
          <p:nvPr/>
        </p:nvSpPr>
        <p:spPr>
          <a:xfrm>
            <a:off x="877824" y="3895344"/>
            <a:ext cx="3081528" cy="1344167"/>
          </a:xfrm>
          <a:prstGeom prst="rect">
            <a:avLst/>
          </a:prstGeom>
          <a:noFill/>
        </p:spPr>
        <p:txBody>
          <a:bodyPr wrap="none" lIns="45720" rIns="45720" anchor="t">
            <a:spAutoFit/>
          </a:bodyPr>
          <a:lstStyle/>
          <a:p>
            <a:pPr algn="l"/>
            <a:r>
              <a:rPr sz="1300" b="0">
                <a:solidFill>
                  <a:srgbClr val="17242C"/>
                </a:solidFill>
                <a:latin typeface="Aptos"/>
              </a:rPr>
              <a:t>Effective AMM reproduces 0.795/0.745/0.736 by construction. It is calibrated plumbing, not independent interface-physics validation.</a:t>
            </a:r>
          </a:p>
        </p:txBody>
      </p:sp>
      <p:sp>
        <p:nvSpPr>
          <p:cNvPr id="17" name="Rounded Rectangle 16"/>
          <p:cNvSpPr/>
          <p:nvPr/>
        </p:nvSpPr>
        <p:spPr>
          <a:xfrm>
            <a:off x="4370832" y="3364992"/>
            <a:ext cx="3429000" cy="19659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0832" y="3364992"/>
            <a:ext cx="91440" cy="196596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3502152"/>
            <a:ext cx="3081528" cy="310896"/>
          </a:xfrm>
          <a:prstGeom prst="rect">
            <a:avLst/>
          </a:prstGeom>
          <a:noFill/>
        </p:spPr>
        <p:txBody>
          <a:bodyPr wrap="none" lIns="45720" rIns="45720" anchor="t">
            <a:spAutoFit/>
          </a:bodyPr>
          <a:lstStyle/>
          <a:p>
            <a:pPr algn="l"/>
            <a:r>
              <a:rPr sz="1400" b="1">
                <a:solidFill>
                  <a:srgbClr val="10243E"/>
                </a:solidFill>
                <a:latin typeface="Aptos"/>
              </a:rPr>
              <a:t>Threshold mismatch</a:t>
            </a:r>
          </a:p>
        </p:txBody>
      </p:sp>
      <p:sp>
        <p:nvSpPr>
          <p:cNvPr id="20" name="TextBox 19"/>
          <p:cNvSpPr txBox="1"/>
          <p:nvPr/>
        </p:nvSpPr>
        <p:spPr>
          <a:xfrm>
            <a:off x="4590288" y="3895344"/>
            <a:ext cx="3081528" cy="1344167"/>
          </a:xfrm>
          <a:prstGeom prst="rect">
            <a:avLst/>
          </a:prstGeom>
          <a:noFill/>
        </p:spPr>
        <p:txBody>
          <a:bodyPr wrap="none" lIns="45720" rIns="45720" anchor="t">
            <a:spAutoFit/>
          </a:bodyPr>
          <a:lstStyle/>
          <a:p>
            <a:pPr algn="l"/>
            <a:r>
              <a:rPr sz="1300" b="0">
                <a:solidFill>
                  <a:srgbClr val="17242C"/>
                </a:solidFill>
                <a:latin typeface="Aptos"/>
              </a:rPr>
              <a:t>Bottom gapThreshold is 180 µeV, while the Al gap is 191 µeV. The local normal-film model uses this termination scale. Prefer 191 µeV unless 180 is explicitly calibrated.</a:t>
            </a:r>
          </a:p>
        </p:txBody>
      </p:sp>
      <p:sp>
        <p:nvSpPr>
          <p:cNvPr id="21" name="Rounded Rectangle 20"/>
          <p:cNvSpPr/>
          <p:nvPr/>
        </p:nvSpPr>
        <p:spPr>
          <a:xfrm>
            <a:off x="8083296" y="3364992"/>
            <a:ext cx="3429000" cy="1965960"/>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3364992"/>
            <a:ext cx="91440" cy="1965960"/>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02752" y="3502152"/>
            <a:ext cx="3081528" cy="310896"/>
          </a:xfrm>
          <a:prstGeom prst="rect">
            <a:avLst/>
          </a:prstGeom>
          <a:noFill/>
        </p:spPr>
        <p:txBody>
          <a:bodyPr wrap="none" lIns="45720" rIns="45720" anchor="t">
            <a:spAutoFit/>
          </a:bodyPr>
          <a:lstStyle/>
          <a:p>
            <a:pPr algn="l"/>
            <a:r>
              <a:rPr sz="1400" b="1">
                <a:solidFill>
                  <a:srgbClr val="10243E"/>
                </a:solidFill>
                <a:latin typeface="Aptos"/>
              </a:rPr>
              <a:t>Input uncertainty</a:t>
            </a:r>
          </a:p>
        </p:txBody>
      </p:sp>
      <p:sp>
        <p:nvSpPr>
          <p:cNvPr id="24" name="TextBox 23"/>
          <p:cNvSpPr txBox="1"/>
          <p:nvPr/>
        </p:nvSpPr>
        <p:spPr>
          <a:xfrm>
            <a:off x="8302752" y="3895344"/>
            <a:ext cx="3081528" cy="1344167"/>
          </a:xfrm>
          <a:prstGeom prst="rect">
            <a:avLst/>
          </a:prstGeom>
          <a:noFill/>
        </p:spPr>
        <p:txBody>
          <a:bodyPr wrap="none" lIns="45720" rIns="45720" anchor="t">
            <a:spAutoFit/>
          </a:bodyPr>
          <a:lstStyle/>
          <a:p>
            <a:pPr algn="l"/>
            <a:r>
              <a:rPr sz="1300" b="0">
                <a:solidFill>
                  <a:srgbClr val="17242C"/>
                </a:solidFill>
                <a:latin typeface="Aptos"/>
              </a:rPr>
              <a:t>Au lifetime is unsourced; Ta/Ti are supplied estimates. Low/nominal/high brackets are required before materials claims.</a:t>
            </a:r>
          </a:p>
        </p:txBody>
      </p:sp>
      <p:sp>
        <p:nvSpPr>
          <p:cNvPr id="25" name="TextBox 24"/>
          <p:cNvSpPr txBox="1"/>
          <p:nvPr/>
        </p:nvSpPr>
        <p:spPr>
          <a:xfrm>
            <a:off x="822960" y="5715000"/>
            <a:ext cx="10515600" cy="384048"/>
          </a:xfrm>
          <a:prstGeom prst="rect">
            <a:avLst/>
          </a:prstGeom>
          <a:noFill/>
        </p:spPr>
        <p:txBody>
          <a:bodyPr wrap="none" lIns="45720" rIns="45720" anchor="t">
            <a:spAutoFit/>
          </a:bodyPr>
          <a:lstStyle/>
          <a:p>
            <a:pPr algn="ctr"/>
            <a:r>
              <a:rPr sz="1500" b="1">
                <a:solidFill>
                  <a:srgbClr val="10243E"/>
                </a:solidFill>
                <a:latin typeface="Aptos"/>
              </a:rPr>
              <a:t>These issues do not erase factorial-v1: its actual macros and outputs were audited directly. They do block trustworthy reuse and extension.</a:t>
            </a:r>
          </a:p>
        </p:txBody>
      </p:sp>
      <p:sp>
        <p:nvSpPr>
          <p:cNvPr id="26" name="TextBox 25"/>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Recommended next sequence</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170432"/>
            <a:ext cx="5349240" cy="4480560"/>
          </a:xfrm>
          <a:prstGeom prst="rect">
            <a:avLst/>
          </a:prstGeom>
          <a:noFill/>
        </p:spPr>
        <p:txBody>
          <a:bodyPr wrap="square" lIns="45720" rIns="27432">
            <a:spAutoFit/>
          </a:bodyPr>
          <a:lstStyle/>
          <a:p>
            <a:pPr>
              <a:spcAft>
                <a:spcPts val="1300"/>
              </a:spcAft>
              <a:defRPr sz="1600">
                <a:solidFill>
                  <a:srgbClr val="17242C"/>
                </a:solidFill>
                <a:latin typeface="Aptos"/>
              </a:defRPr>
            </a:pPr>
            <a:r>
              <a:t>•  1  Archive factorial-v1 as nominal / 10 meV / 16 sites / 2 replicas</a:t>
            </a:r>
          </a:p>
          <a:p>
            <a:pPr>
              <a:spcAft>
                <a:spcPts val="1300"/>
              </a:spcAft>
              <a:defRPr sz="1600">
                <a:solidFill>
                  <a:srgbClr val="17242C"/>
                </a:solidFill>
                <a:latin typeface="Aptos"/>
              </a:defRPr>
            </a:pPr>
            <a:r>
              <a:t>•  2  Fix cache identity; add cache-invalidation regression tests</a:t>
            </a:r>
          </a:p>
          <a:p>
            <a:pPr>
              <a:spcAft>
                <a:spcPts val="1300"/>
              </a:spcAft>
              <a:defRPr sz="1600">
                <a:solidFill>
                  <a:srgbClr val="17242C"/>
                </a:solidFill>
                <a:latin typeface="Aptos"/>
              </a:defRPr>
            </a:pPr>
            <a:r>
              <a:t>•  3  Add campaign + contract + fidelity filters to the report</a:t>
            </a:r>
          </a:p>
          <a:p>
            <a:pPr>
              <a:spcAft>
                <a:spcPts val="1300"/>
              </a:spcAft>
              <a:defRPr sz="1600">
                <a:solidFill>
                  <a:srgbClr val="17242C"/>
                </a:solidFill>
                <a:latin typeface="Aptos"/>
              </a:defRPr>
            </a:pPr>
            <a:r>
              <a:t>•  4  Resolve bottom threshold: 191 µeV recommended</a:t>
            </a:r>
          </a:p>
          <a:p>
            <a:pPr>
              <a:spcAft>
                <a:spcPts val="1300"/>
              </a:spcAft>
              <a:defRPr sz="1600">
                <a:solidFill>
                  <a:srgbClr val="17242C"/>
                </a:solidFill>
                <a:latin typeface="Aptos"/>
              </a:defRPr>
            </a:pPr>
            <a:r>
              <a:t>•  5  Run nested 32-site finalists + one Au control</a:t>
            </a:r>
          </a:p>
        </p:txBody>
      </p:sp>
      <p:sp>
        <p:nvSpPr>
          <p:cNvPr id="6" name="TextBox 5"/>
          <p:cNvSpPr txBox="1"/>
          <p:nvPr/>
        </p:nvSpPr>
        <p:spPr>
          <a:xfrm>
            <a:off x="6291072" y="1170432"/>
            <a:ext cx="5074920" cy="4480560"/>
          </a:xfrm>
          <a:prstGeom prst="rect">
            <a:avLst/>
          </a:prstGeom>
          <a:noFill/>
        </p:spPr>
        <p:txBody>
          <a:bodyPr wrap="square" lIns="45720" rIns="27432">
            <a:spAutoFit/>
          </a:bodyPr>
          <a:lstStyle/>
          <a:p>
            <a:pPr>
              <a:spcAft>
                <a:spcPts val="1300"/>
              </a:spcAft>
              <a:defRPr sz="1600">
                <a:solidFill>
                  <a:srgbClr val="17242C"/>
                </a:solidFill>
                <a:latin typeface="Aptos"/>
              </a:defRPr>
            </a:pPr>
            <a:r>
              <a:t>•  6  Extend surviving candidates to 64 sites</a:t>
            </a:r>
          </a:p>
          <a:p>
            <a:pPr>
              <a:spcAft>
                <a:spcPts val="1300"/>
              </a:spcAft>
              <a:defRPr sz="1600">
                <a:solidFill>
                  <a:srgbClr val="17242C"/>
                </a:solidFill>
                <a:latin typeface="Aptos"/>
              </a:defRPr>
            </a:pPr>
            <a:r>
              <a:t>•  7  Add seed banks / replicas and matched-block uncertainty</a:t>
            </a:r>
          </a:p>
          <a:p>
            <a:pPr>
              <a:spcAft>
                <a:spcPts val="1300"/>
              </a:spcAft>
              <a:defRPr sz="1600">
                <a:solidFill>
                  <a:srgbClr val="17242C"/>
                </a:solidFill>
                <a:latin typeface="Aptos"/>
              </a:defRPr>
            </a:pPr>
            <a:r>
              <a:t>•  8  Run low / nominal / high lifetime brackets</a:t>
            </a:r>
          </a:p>
          <a:p>
            <a:pPr>
              <a:spcAft>
                <a:spcPts val="1300"/>
              </a:spcAft>
              <a:defRPr sz="1600">
                <a:solidFill>
                  <a:srgbClr val="17242C"/>
                </a:solidFill>
                <a:latin typeface="Aptos"/>
              </a:defRPr>
            </a:pPr>
            <a:r>
              <a:t>•  9  Test alternate or measured interface physics</a:t>
            </a:r>
          </a:p>
          <a:p>
            <a:pPr>
              <a:spcAft>
                <a:spcPts val="1300"/>
              </a:spcAft>
              <a:defRPr sz="1600">
                <a:solidFill>
                  <a:srgbClr val="17242C"/>
                </a:solidFill>
                <a:latin typeface="Aptos"/>
              </a:defRPr>
            </a:pPr>
            <a:r>
              <a:t>•  10 Confirm finalists at high event fidelity</a:t>
            </a:r>
          </a:p>
        </p:txBody>
      </p:sp>
      <p:sp>
        <p:nvSpPr>
          <p:cNvPr id="7" name="TextBox 6"/>
          <p:cNvSpPr txBox="1"/>
          <p:nvPr/>
        </p:nvSpPr>
        <p:spPr>
          <a:xfrm>
            <a:off x="822960" y="5806440"/>
            <a:ext cx="10515600" cy="347472"/>
          </a:xfrm>
          <a:prstGeom prst="rect">
            <a:avLst/>
          </a:prstGeom>
          <a:noFill/>
        </p:spPr>
        <p:txBody>
          <a:bodyPr wrap="none" lIns="45720" rIns="45720" anchor="t">
            <a:spAutoFit/>
          </a:bodyPr>
          <a:lstStyle/>
          <a:p>
            <a:pPr algn="ctr"/>
            <a:r>
              <a:rPr sz="1700" b="1">
                <a:solidFill>
                  <a:srgbClr val="00A6A6"/>
                </a:solidFill>
                <a:latin typeface="Aptos"/>
              </a:rPr>
              <a:t>Only expand to Bayesian optimization when the candidate space becomes larger than an exhaustive budget.</a:t>
            </a:r>
          </a:p>
        </p:txBody>
      </p:sp>
      <p:sp>
        <p:nvSpPr>
          <p:cNvPr id="8" name="TextBox 7"/>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FFFFFF"/>
                </a:solidFill>
                <a:latin typeface="Aptos"/>
              </a:rPr>
              <a:t>Take-home message</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325880"/>
            <a:ext cx="10698480" cy="658368"/>
          </a:xfrm>
          <a:prstGeom prst="rect">
            <a:avLst/>
          </a:prstGeom>
          <a:noFill/>
        </p:spPr>
        <p:txBody>
          <a:bodyPr wrap="none" lIns="45720" rIns="45720" anchor="t">
            <a:spAutoFit/>
          </a:bodyPr>
          <a:lstStyle/>
          <a:p>
            <a:pPr algn="ctr"/>
            <a:r>
              <a:rPr sz="2900" b="1">
                <a:solidFill>
                  <a:srgbClr val="FFFFFF"/>
                </a:solidFill>
                <a:latin typeface="Aptos"/>
              </a:rPr>
              <a:t>The run is real, complete, and reproducible.</a:t>
            </a:r>
          </a:p>
        </p:txBody>
      </p:sp>
      <p:sp>
        <p:nvSpPr>
          <p:cNvPr id="6" name="TextBox 5"/>
          <p:cNvSpPr txBox="1"/>
          <p:nvPr/>
        </p:nvSpPr>
        <p:spPr>
          <a:xfrm>
            <a:off x="1005840" y="2331720"/>
            <a:ext cx="10149840" cy="685800"/>
          </a:xfrm>
          <a:prstGeom prst="rect">
            <a:avLst/>
          </a:prstGeom>
          <a:noFill/>
        </p:spPr>
        <p:txBody>
          <a:bodyPr wrap="none" lIns="45720" rIns="45720" anchor="t">
            <a:spAutoFit/>
          </a:bodyPr>
          <a:lstStyle/>
          <a:p>
            <a:pPr algn="ctr"/>
            <a:r>
              <a:rPr sz="2200" b="1">
                <a:solidFill>
                  <a:srgbClr val="4CC9D8"/>
                </a:solidFill>
                <a:latin typeface="Aptos"/>
              </a:rPr>
              <a:t>Cu-bottom candidates are consistently favored in the implemented model.</a:t>
            </a:r>
          </a:p>
        </p:txBody>
      </p:sp>
      <p:sp>
        <p:nvSpPr>
          <p:cNvPr id="7" name="TextBox 6"/>
          <p:cNvSpPr txBox="1"/>
          <p:nvPr/>
        </p:nvSpPr>
        <p:spPr>
          <a:xfrm>
            <a:off x="1005840" y="3310128"/>
            <a:ext cx="10149840" cy="685800"/>
          </a:xfrm>
          <a:prstGeom prst="rect">
            <a:avLst/>
          </a:prstGeom>
          <a:noFill/>
        </p:spPr>
        <p:txBody>
          <a:bodyPr wrap="none" lIns="45720" rIns="45720" anchor="t">
            <a:spAutoFit/>
          </a:bodyPr>
          <a:lstStyle/>
          <a:p>
            <a:pPr algn="ctr"/>
            <a:r>
              <a:rPr sz="2200" b="1">
                <a:solidFill>
                  <a:srgbClr val="F59E42"/>
                </a:solidFill>
                <a:latin typeface="Aptos"/>
              </a:rPr>
              <a:t>GaAs/Nb/Cu is the nominal winner—but effectively tied with Ge/Nb/Cu.</a:t>
            </a:r>
          </a:p>
        </p:txBody>
      </p:sp>
      <p:sp>
        <p:nvSpPr>
          <p:cNvPr id="8" name="TextBox 7"/>
          <p:cNvSpPr txBox="1"/>
          <p:nvPr/>
        </p:nvSpPr>
        <p:spPr>
          <a:xfrm>
            <a:off x="1005840" y="4297680"/>
            <a:ext cx="10149840" cy="822960"/>
          </a:xfrm>
          <a:prstGeom prst="rect">
            <a:avLst/>
          </a:prstGeom>
          <a:noFill/>
        </p:spPr>
        <p:txBody>
          <a:bodyPr wrap="none" lIns="45720" rIns="45720" anchor="t">
            <a:spAutoFit/>
          </a:bodyPr>
          <a:lstStyle/>
          <a:p>
            <a:pPr algn="ctr"/>
            <a:r>
              <a:rPr sz="2000" b="1">
                <a:solidFill>
                  <a:srgbClr val="FFFFFF"/>
                </a:solidFill>
                <a:latin typeface="Aptos"/>
              </a:rPr>
              <a:t>Fix cache/report identity, then establish spatial, lifetime, interface, and high-fidelity stability before selecting a material stack.</a:t>
            </a:r>
          </a:p>
        </p:txBody>
      </p:sp>
      <p:sp>
        <p:nvSpPr>
          <p:cNvPr id="9" name="TextBox 8"/>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AFC4CF"/>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1064240" cy="438912"/>
          </a:xfrm>
          <a:prstGeom prst="rect">
            <a:avLst/>
          </a:prstGeom>
          <a:noFill/>
        </p:spPr>
        <p:txBody>
          <a:bodyPr wrap="none" lIns="45720" rIns="45720" anchor="t">
            <a:spAutoFit/>
          </a:bodyPr>
          <a:lstStyle/>
          <a:p>
            <a:pPr algn="l"/>
            <a:r>
              <a:rPr sz="2500" b="1">
                <a:solidFill>
                  <a:srgbClr val="10243E"/>
                </a:solidFill>
                <a:latin typeface="Aptos"/>
              </a:rPr>
              <a:t>Appendix: scope and sources</a:t>
            </a:r>
          </a:p>
        </p:txBody>
      </p:sp>
      <p:sp>
        <p:nvSpPr>
          <p:cNvPr id="4" name="Rectangle 3"/>
          <p:cNvSpPr/>
          <p:nvPr/>
        </p:nvSpPr>
        <p:spPr>
          <a:xfrm>
            <a:off x="594360" y="859536"/>
            <a:ext cx="960120" cy="54864"/>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143000"/>
            <a:ext cx="3520440" cy="1874519"/>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43000"/>
            <a:ext cx="91440" cy="1874519"/>
          </a:xfrm>
          <a:prstGeom prst="rect">
            <a:avLst/>
          </a:prstGeom>
          <a:solidFill>
            <a:srgbClr val="00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280160"/>
            <a:ext cx="3172968" cy="310896"/>
          </a:xfrm>
          <a:prstGeom prst="rect">
            <a:avLst/>
          </a:prstGeom>
          <a:noFill/>
        </p:spPr>
        <p:txBody>
          <a:bodyPr wrap="none" lIns="45720" rIns="45720" anchor="t">
            <a:spAutoFit/>
          </a:bodyPr>
          <a:lstStyle/>
          <a:p>
            <a:pPr algn="l"/>
            <a:r>
              <a:rPr sz="1400" b="1">
                <a:solidFill>
                  <a:srgbClr val="10243E"/>
                </a:solidFill>
                <a:latin typeface="Aptos"/>
              </a:rPr>
              <a:t>Objective scope</a:t>
            </a:r>
          </a:p>
        </p:txBody>
      </p:sp>
      <p:sp>
        <p:nvSpPr>
          <p:cNvPr id="8" name="TextBox 7"/>
          <p:cNvSpPr txBox="1"/>
          <p:nvPr/>
        </p:nvSpPr>
        <p:spPr>
          <a:xfrm>
            <a:off x="877824" y="1673352"/>
            <a:ext cx="3172968" cy="1252727"/>
          </a:xfrm>
          <a:prstGeom prst="rect">
            <a:avLst/>
          </a:prstGeom>
          <a:noFill/>
        </p:spPr>
        <p:txBody>
          <a:bodyPr wrap="none" lIns="45720" rIns="45720" anchor="t">
            <a:spAutoFit/>
          </a:bodyPr>
          <a:lstStyle/>
          <a:p>
            <a:pPr algn="l"/>
            <a:r>
              <a:rPr sz="1250" b="0">
                <a:solidFill>
                  <a:srgbClr val="17242C"/>
                </a:solidFill>
                <a:latin typeface="Aptos"/>
              </a:rPr>
              <a:t>Sum of rounded Edep/ΔAl for positive top-surface hits, assigned to the nearest of 17 electrodes and normalized by all primaries. Not PLE, peak-QP, or time-resolved correlated damage.</a:t>
            </a:r>
          </a:p>
        </p:txBody>
      </p:sp>
      <p:sp>
        <p:nvSpPr>
          <p:cNvPr id="9" name="Rounded Rectangle 8"/>
          <p:cNvSpPr/>
          <p:nvPr/>
        </p:nvSpPr>
        <p:spPr>
          <a:xfrm>
            <a:off x="4343400" y="1143000"/>
            <a:ext cx="3520440" cy="1874519"/>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143000"/>
            <a:ext cx="91440" cy="1874519"/>
          </a:xfrm>
          <a:prstGeom prst="rect">
            <a:avLst/>
          </a:prstGeom>
          <a:solidFill>
            <a:srgbClr val="41A3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280160"/>
            <a:ext cx="3172968" cy="310896"/>
          </a:xfrm>
          <a:prstGeom prst="rect">
            <a:avLst/>
          </a:prstGeom>
          <a:noFill/>
        </p:spPr>
        <p:txBody>
          <a:bodyPr wrap="none" lIns="45720" rIns="45720" anchor="t">
            <a:spAutoFit/>
          </a:bodyPr>
          <a:lstStyle/>
          <a:p>
            <a:pPr algn="l"/>
            <a:r>
              <a:rPr sz="1400" b="1">
                <a:solidFill>
                  <a:srgbClr val="10243E"/>
                </a:solidFill>
                <a:latin typeface="Aptos"/>
              </a:rPr>
              <a:t>Artifact scope</a:t>
            </a:r>
          </a:p>
        </p:txBody>
      </p:sp>
      <p:sp>
        <p:nvSpPr>
          <p:cNvPr id="12" name="TextBox 11"/>
          <p:cNvSpPr txBox="1"/>
          <p:nvPr/>
        </p:nvSpPr>
        <p:spPr>
          <a:xfrm>
            <a:off x="4562856" y="1673352"/>
            <a:ext cx="3172968" cy="1252727"/>
          </a:xfrm>
          <a:prstGeom prst="rect">
            <a:avLst/>
          </a:prstGeom>
          <a:noFill/>
        </p:spPr>
        <p:txBody>
          <a:bodyPr wrap="none" lIns="45720" rIns="45720" anchor="t">
            <a:spAutoFit/>
          </a:bodyPr>
          <a:lstStyle/>
          <a:p>
            <a:pPr algn="l"/>
            <a:r>
              <a:rPr sz="1250" b="0">
                <a:solidFill>
                  <a:srgbClr val="17242C"/>
                </a:solidFill>
                <a:latin typeface="Aptos"/>
              </a:rPr>
              <a:t>SQLite: 18 trial rows + 576 sub-run rows. CSV: 18-row per-trial projection. Runs: exact macros, native configs, hit files, markers, and logs.</a:t>
            </a:r>
          </a:p>
        </p:txBody>
      </p:sp>
      <p:sp>
        <p:nvSpPr>
          <p:cNvPr id="13" name="Rounded Rectangle 12"/>
          <p:cNvSpPr/>
          <p:nvPr/>
        </p:nvSpPr>
        <p:spPr>
          <a:xfrm>
            <a:off x="8028431" y="1143000"/>
            <a:ext cx="3520440" cy="1874519"/>
          </a:xfrm>
          <a:prstGeom prst="roundRect">
            <a:avLst/>
          </a:prstGeom>
          <a:solidFill>
            <a:srgbClr val="EDF4F7"/>
          </a:solidFill>
          <a:ln>
            <a:solidFill>
              <a:srgbClr val="AFC4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28431" y="1143000"/>
            <a:ext cx="91440" cy="1874519"/>
          </a:xfrm>
          <a:prstGeom prst="rect">
            <a:avLst/>
          </a:prstGeom>
          <a:solidFill>
            <a:srgbClr val="F59E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47888" y="1280160"/>
            <a:ext cx="3172968" cy="310896"/>
          </a:xfrm>
          <a:prstGeom prst="rect">
            <a:avLst/>
          </a:prstGeom>
          <a:noFill/>
        </p:spPr>
        <p:txBody>
          <a:bodyPr wrap="none" lIns="45720" rIns="45720" anchor="t">
            <a:spAutoFit/>
          </a:bodyPr>
          <a:lstStyle/>
          <a:p>
            <a:pPr algn="l"/>
            <a:r>
              <a:rPr sz="1400" b="1">
                <a:solidFill>
                  <a:srgbClr val="10243E"/>
                </a:solidFill>
                <a:latin typeface="Aptos"/>
              </a:rPr>
              <a:t>Claim scope</a:t>
            </a:r>
          </a:p>
        </p:txBody>
      </p:sp>
      <p:sp>
        <p:nvSpPr>
          <p:cNvPr id="16" name="TextBox 15"/>
          <p:cNvSpPr txBox="1"/>
          <p:nvPr/>
        </p:nvSpPr>
        <p:spPr>
          <a:xfrm>
            <a:off x="8247888" y="1673352"/>
            <a:ext cx="3172968" cy="1252727"/>
          </a:xfrm>
          <a:prstGeom prst="rect">
            <a:avLst/>
          </a:prstGeom>
          <a:noFill/>
        </p:spPr>
        <p:txBody>
          <a:bodyPr wrap="none" lIns="45720" rIns="45720" anchor="t">
            <a:spAutoFit/>
          </a:bodyPr>
          <a:lstStyle/>
          <a:p>
            <a:pPr algn="l"/>
            <a:r>
              <a:rPr sz="1250" b="0">
                <a:solidFill>
                  <a:srgbClr val="17242C"/>
                </a:solidFill>
                <a:latin typeface="Aptos"/>
              </a:rPr>
              <a:t>A model-dependent screening result for a 10 meV phonon source and the fixed 17-electrode geometry—not an experimentally validated material ranking.</a:t>
            </a:r>
          </a:p>
        </p:txBody>
      </p:sp>
      <p:sp>
        <p:nvSpPr>
          <p:cNvPr id="17" name="TextBox 16"/>
          <p:cNvSpPr txBox="1"/>
          <p:nvPr/>
        </p:nvSpPr>
        <p:spPr>
          <a:xfrm>
            <a:off x="777240" y="3401568"/>
            <a:ext cx="10698480" cy="2331720"/>
          </a:xfrm>
          <a:prstGeom prst="rect">
            <a:avLst/>
          </a:prstGeom>
          <a:noFill/>
        </p:spPr>
        <p:txBody>
          <a:bodyPr wrap="none" lIns="45720" rIns="45720" anchor="t">
            <a:spAutoFit/>
          </a:bodyPr>
          <a:lstStyle/>
          <a:p>
            <a:pPr algn="l"/>
            <a:r>
              <a:rPr sz="1250" b="0">
                <a:solidFill>
                  <a:srgbClr val="17242C"/>
                </a:solidFill>
                <a:latin typeface="Aptos"/>
              </a:rPr>
              <a:t>Agnese et al., G4CMP: Condensed Matter Physics Simulation Using the Geant4 Toolkit, arXiv:2302.05998.
Martinis, Saving superconducting quantum processors from decay and correlated errors generated by gamma and cosmic rays, npj Quantum Information 7, 90 (2021).
McEwen et al., Resolving catastrophic error bursts from cosmic rays in large arrays of superconducting qubits, Nature Physics 18, 107–111 (2022).
Wilen et al., Phonon downconversion to suppress correlated errors in superconducting qubits, Nature Communications 13, 6425 (2022).</a:t>
            </a:r>
          </a:p>
        </p:txBody>
      </p:sp>
      <p:sp>
        <p:nvSpPr>
          <p:cNvPr id="18" name="TextBox 17"/>
          <p:cNvSpPr txBox="1"/>
          <p:nvPr/>
        </p:nvSpPr>
        <p:spPr>
          <a:xfrm>
            <a:off x="594360" y="6519672"/>
            <a:ext cx="10698480" cy="182880"/>
          </a:xfrm>
          <a:prstGeom prst="rect">
            <a:avLst/>
          </a:prstGeom>
          <a:noFill/>
        </p:spPr>
        <p:txBody>
          <a:bodyPr wrap="none" lIns="45720" rIns="45720" anchor="t">
            <a:spAutoFit/>
          </a:bodyPr>
          <a:lstStyle/>
          <a:p>
            <a:pPr algn="l"/>
            <a:r>
              <a:rPr sz="750" b="0">
                <a:solidFill>
                  <a:srgbClr val="526573"/>
                </a:solidFill>
                <a:latin typeface="Aptos"/>
              </a:rPr>
              <a:t>Full numerical audit and ranking: STAGE3_FACTORIAL_V1_RESULTS_REVIEW.md</a:t>
            </a:r>
          </a:p>
        </p:txBody>
      </p:sp>
      <p:sp>
        <p:nvSpPr>
          <p:cNvPr id="19" name="TextBox 18"/>
          <p:cNvSpPr txBox="1"/>
          <p:nvPr/>
        </p:nvSpPr>
        <p:spPr>
          <a:xfrm>
            <a:off x="11292840" y="6473952"/>
            <a:ext cx="320040" cy="219456"/>
          </a:xfrm>
          <a:prstGeom prst="rect">
            <a:avLst/>
          </a:prstGeom>
          <a:noFill/>
        </p:spPr>
        <p:txBody>
          <a:bodyPr wrap="none" lIns="45720" rIns="45720" anchor="t">
            <a:spAutoFit/>
          </a:bodyPr>
          <a:lstStyle/>
          <a:p>
            <a:pPr algn="r"/>
            <a:r>
              <a:rPr sz="800" b="0">
                <a:solidFill>
                  <a:srgbClr val="526573"/>
                </a:solidFill>
                <a:latin typeface="Aptos"/>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Stage 3 Material Optimization — factorial-v1 results</dc:title>
  <dc:subject>QP-minimizing material stack screening with Geant4/G4CMP</dc:subject>
  <dc:creator>Stage 3 project team</dc:creator>
  <cp:keywords/>
  <dc:description>Generated from stage3_trials.sqlite and results/factorial_v1.csv</dc:description>
  <cp:lastModifiedBy>Steve Canny</cp:lastModifiedBy>
  <cp:revision>1</cp:revision>
  <dcterms:created xsi:type="dcterms:W3CDTF">2013-01-27T09:14:16Z</dcterms:created>
  <dcterms:modified xsi:type="dcterms:W3CDTF">2013-01-27T09:15:58Z</dcterms:modified>
  <cp:category/>
</cp:coreProperties>
</file>